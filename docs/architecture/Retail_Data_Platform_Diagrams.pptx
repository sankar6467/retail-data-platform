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60" r:id="rId3"/>
    <p:sldId id="257" r:id="rId4"/>
    <p:sldId id="258" r:id="rId5"/>
    <p:sldId id="259" r:id="rId6"/>
  </p:sldIdLst>
  <p:sldSz cx="15240000" cy="10542588"/>
  <p:notesSz cx="10542588" cy="15240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42336" autoAdjust="0"/>
  </p:normalViewPr>
  <p:slideViewPr>
    <p:cSldViewPr snapToGrid="0">
      <p:cViewPr varScale="1">
        <p:scale>
          <a:sx n="48" d="100"/>
          <a:sy n="48" d="100"/>
        </p:scale>
        <p:origin x="8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6D00B2-546A-949F-C9EC-D0C43C27C60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1FC15-82E5-1176-E5A5-F6E322E6454D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7306DEA2-35B1-47E7-A260-02A9502A6B2D}" type="datetime1">
              <a:rPr lang="en-US"/>
              <a:pPr lvl="0"/>
              <a:t>8/19/2026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45BC47F-30CE-F092-C9DD-6C4C3619E4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9315BD-D7AB-4F83-011E-350063D719D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C134D-8DC5-804C-E451-5979BA1C9FA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C665A-6CDD-AE03-FC7F-6E25389605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99DF73E9-2111-4D43-9E87-F2CD4A9CC1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6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98563" y="1143000"/>
            <a:ext cx="44608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9DF73E9-2111-4D43-9E87-F2CD4A9CC1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62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6AB70-BD29-AD9B-EEEA-522307E5E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3000"/>
            <a:ext cx="44608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DE502-7F7B-6AF4-6FDC-1D17CD250E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E661F-97C3-4F37-9BDC-F16D8F940E3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9D43BE0-F372-413F-86C8-9B1D56718A2B}" type="slidenum"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12C3D-0E4D-3A10-AFC5-DE1812471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3000"/>
            <a:ext cx="44608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5A56D-1F2F-B5C0-4525-C5298D3185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1200" b="0" i="0" u="none" strike="noStrike" kern="1200" cap="none" spc="0" baseline="0" dirty="0">
              <a:solidFill>
                <a:srgbClr val="000000"/>
              </a:solidFill>
              <a:effectLst/>
              <a:uFillTx/>
              <a:latin typeface="Apto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D2945-A313-3E23-E86A-F64F6AE0A64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010CF65-B26A-45B5-AF29-9E55F048EB8F}" type="slidenum"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3428E-A022-0547-CCA0-BD32177C2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3000"/>
            <a:ext cx="44608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85A2C-C571-0B3E-336F-BBF9D3661E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BC778-DCA5-DC57-9B37-8F72C1FDAB8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3B59080-CAF8-46AC-BD82-5BD270DD6AF6}" type="slidenum"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DC18A-E59B-595F-235C-FD1AF0D4D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3000"/>
            <a:ext cx="44608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B6E01-1032-072C-3755-72737DCB4E6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F08EA-9D3F-24D2-D447-41515344E2D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68775D-C53A-442D-9FA2-93E25EDFF861}" type="slidenum"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43285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0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992" y="467539"/>
            <a:ext cx="7003336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ptos"/>
              </a:rPr>
              <a:t>Retail Data Platform -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50" y="1876584"/>
            <a:ext cx="2228850" cy="891540"/>
          </a:xfrm>
          <a:prstGeom prst="rect">
            <a:avLst/>
          </a:prstGeom>
          <a:solidFill>
            <a:srgbClr val="D9D9D9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430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75" b="1" dirty="0">
                <a:solidFill>
                  <a:srgbClr val="333333"/>
                </a:solidFill>
                <a:latin typeface="Aptos" pitchFamily="34"/>
                <a:ea typeface="Aptos" pitchFamily="34"/>
                <a:cs typeface="Aptos" pitchFamily="34"/>
              </a:rPr>
              <a:t>GitHub</a:t>
            </a:r>
            <a:endParaRPr lang="en-US" sz="1375" dirty="0">
              <a:solidFill>
                <a:srgbClr val="000000"/>
              </a:solidFill>
              <a:latin typeface="Aptos"/>
            </a:endParaRPr>
          </a:p>
          <a:p>
            <a:pPr algn="ctr" defTabSz="11430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75" b="1" dirty="0">
                <a:solidFill>
                  <a:srgbClr val="333333"/>
                </a:solidFill>
                <a:latin typeface="Aptos" pitchFamily="34"/>
                <a:ea typeface="Aptos" pitchFamily="34"/>
                <a:cs typeface="Aptos" pitchFamily="34"/>
              </a:rPr>
              <a:t>Repository</a:t>
            </a:r>
            <a:endParaRPr lang="en-US" sz="1375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43650" y="1876584"/>
            <a:ext cx="4057650" cy="891540"/>
          </a:xfrm>
          <a:prstGeom prst="rect">
            <a:avLst/>
          </a:prstGeom>
          <a:solidFill>
            <a:srgbClr val="2C4D7A"/>
          </a:solidFill>
          <a:ln w="15240">
            <a:solidFill>
              <a:srgbClr val="2C4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75" b="1" dirty="0">
                <a:solidFill>
                  <a:schemeClr val="tx1"/>
                </a:solidFill>
                <a:latin typeface="Aptos"/>
              </a:rPr>
              <a:t>GitHub Actions CI/CD
Unit Tests, </a:t>
            </a:r>
            <a:r>
              <a:rPr sz="1375" b="1" dirty="0" err="1">
                <a:solidFill>
                  <a:schemeClr val="tx1"/>
                </a:solidFill>
                <a:latin typeface="Aptos"/>
              </a:rPr>
              <a:t>dbt</a:t>
            </a:r>
            <a:r>
              <a:rPr sz="1375" b="1" dirty="0">
                <a:solidFill>
                  <a:schemeClr val="tx1"/>
                </a:solidFill>
                <a:latin typeface="Aptos"/>
              </a:rPr>
              <a:t> Build and Test,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36766" y="3591053"/>
            <a:ext cx="132856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>
                <a:solidFill>
                  <a:srgbClr val="000000"/>
                </a:solidFill>
                <a:latin typeface="Aptos"/>
              </a:rPr>
              <a:t>Snowflake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6877" y="3286906"/>
            <a:ext cx="4551246" cy="26545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25" b="1">
                <a:solidFill>
                  <a:srgbClr val="DC0000"/>
                </a:solidFill>
                <a:latin typeface="Aptos"/>
              </a:rPr>
              <a:t>Snowflake Governance: RBAC Roles, PII Tagging, Resource Monitor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50" y="4094004"/>
            <a:ext cx="2000250" cy="1428750"/>
          </a:xfrm>
          <a:prstGeom prst="rect">
            <a:avLst/>
          </a:prstGeom>
          <a:solidFill>
            <a:srgbClr val="D9D9D9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75" b="1" dirty="0">
                <a:solidFill>
                  <a:srgbClr val="333333"/>
                </a:solidFill>
                <a:latin typeface="Aptos" pitchFamily="34"/>
                <a:ea typeface="Aptos" pitchFamily="34"/>
                <a:cs typeface="Aptos" pitchFamily="34"/>
              </a:rPr>
              <a:t>Source</a:t>
            </a:r>
            <a:endParaRPr lang="en-US" sz="1375" dirty="0">
              <a:solidFill>
                <a:srgbClr val="000000"/>
              </a:solidFill>
              <a:latin typeface="Aptos"/>
            </a:endParaRPr>
          </a:p>
          <a:p>
            <a:pPr algn="ctr"/>
            <a:endParaRPr sz="1375" b="1" dirty="0"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14850" y="4208304"/>
            <a:ext cx="1771650" cy="1200150"/>
          </a:xfrm>
          <a:prstGeom prst="rect">
            <a:avLst/>
          </a:prstGeom>
          <a:solidFill>
            <a:srgbClr val="BDE0F1"/>
          </a:solidFill>
          <a:ln w="15240">
            <a:solidFill>
              <a:srgbClr val="64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75" dirty="0">
                <a:solidFill>
                  <a:schemeClr val="tx1"/>
                </a:solidFill>
                <a:latin typeface="Aptos"/>
              </a:rPr>
              <a:t>RAW (SOT)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66660" y="4208304"/>
            <a:ext cx="1805940" cy="1200150"/>
          </a:xfrm>
          <a:prstGeom prst="rect">
            <a:avLst/>
          </a:prstGeom>
          <a:solidFill>
            <a:srgbClr val="F2A67E"/>
          </a:solidFill>
          <a:ln w="15240">
            <a:solidFill>
              <a:srgbClr val="8C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50" dirty="0">
                <a:solidFill>
                  <a:schemeClr val="tx1"/>
                </a:solidFill>
                <a:latin typeface="Aptos"/>
              </a:rPr>
              <a:t>Intermediate
(WRK)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4208304"/>
            <a:ext cx="1771650" cy="1200150"/>
          </a:xfrm>
          <a:prstGeom prst="rect">
            <a:avLst/>
          </a:prstGeom>
          <a:solidFill>
            <a:srgbClr val="B8E5B9"/>
          </a:solidFill>
          <a:ln w="15240">
            <a:solidFill>
              <a:srgbClr val="64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50" dirty="0">
                <a:solidFill>
                  <a:schemeClr val="tx1"/>
                </a:solidFill>
                <a:latin typeface="Aptos"/>
              </a:rPr>
              <a:t>Analytics(DM)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658850" y="4094004"/>
            <a:ext cx="1200150" cy="1428750"/>
          </a:xfrm>
          <a:prstGeom prst="rect">
            <a:avLst/>
          </a:prstGeom>
          <a:solidFill>
            <a:srgbClr val="D9D9D9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dirty="0">
                <a:solidFill>
                  <a:schemeClr val="tx1"/>
                </a:solidFill>
                <a:latin typeface="Aptos"/>
              </a:rPr>
              <a:t>BI and
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3720" y="4423912"/>
            <a:ext cx="761940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Apto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433" y="4433531"/>
            <a:ext cx="461985" cy="30392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75">
                <a:solidFill>
                  <a:srgbClr val="000000"/>
                </a:solidFill>
                <a:latin typeface="Aptos"/>
              </a:rPr>
              <a:t>Dbt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4533" y="4433531"/>
            <a:ext cx="461985" cy="30392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75">
                <a:solidFill>
                  <a:srgbClr val="000000"/>
                </a:solidFill>
                <a:latin typeface="Aptos"/>
              </a:rPr>
              <a:t>Dbt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1470" y="7168674"/>
            <a:ext cx="8286750" cy="742950"/>
          </a:xfrm>
          <a:prstGeom prst="rect">
            <a:avLst/>
          </a:prstGeom>
          <a:solidFill>
            <a:srgbClr val="FFFF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Aptos" pitchFamily="34"/>
                <a:ea typeface="Aptos" pitchFamily="34"/>
                <a:cs typeface="Aptos" pitchFamily="34"/>
              </a:rPr>
              <a:t>RETAIL_LOAD_WH        RETAIL_TRANSFORM_WH        RETAIL_BI_WH</a:t>
            </a:r>
            <a:endParaRPr lang="en-US" sz="1250" dirty="0">
              <a:solidFill>
                <a:srgbClr val="000000"/>
              </a:solidFill>
              <a:latin typeface="Aptos"/>
            </a:endParaRPr>
          </a:p>
          <a:p>
            <a:pPr algn="ctr"/>
            <a:r>
              <a:rPr sz="1250" b="1" dirty="0">
                <a:latin typeface="Aptos"/>
              </a:rPr>
              <a:t>WH     RETAIL_TRANSFORM_WH     RETAIL_BI_WH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FC83F-6BE1-8E39-2FA4-7C4C37504508}"/>
              </a:ext>
            </a:extLst>
          </p:cNvPr>
          <p:cNvSpPr/>
          <p:nvPr/>
        </p:nvSpPr>
        <p:spPr>
          <a:xfrm>
            <a:off x="3729990" y="3591084"/>
            <a:ext cx="9109710" cy="296037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63508-2AC4-202E-7AE7-4A849D0D7E08}"/>
              </a:ext>
            </a:extLst>
          </p:cNvPr>
          <p:cNvSpPr txBox="1"/>
          <p:nvPr/>
        </p:nvSpPr>
        <p:spPr>
          <a:xfrm>
            <a:off x="4141470" y="2032000"/>
            <a:ext cx="716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Push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6FD065-A9D8-78B2-8843-344C9C097897}"/>
              </a:ext>
            </a:extLst>
          </p:cNvPr>
          <p:cNvSpPr txBox="1"/>
          <p:nvPr/>
        </p:nvSpPr>
        <p:spPr>
          <a:xfrm>
            <a:off x="8284845" y="2953885"/>
            <a:ext cx="691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Trigger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94DB312-113B-CE4F-D9F2-CA4EAA89CA90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628900" y="2322354"/>
            <a:ext cx="37147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919BD1B-ECEE-C7EA-742D-D491ED5F8860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2400300" y="4808379"/>
            <a:ext cx="2114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7F525BF-6BF0-436E-4336-ADBF6CFAEA8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6286500" y="4808379"/>
            <a:ext cx="1280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2736B4E-FA92-3A66-ADCC-B7ACCBB60506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9372600" y="4808379"/>
            <a:ext cx="1234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B2397A-3E6C-548F-6BDF-72945F3F227C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12378690" y="4808379"/>
            <a:ext cx="1280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B4B13B9-FB71-990D-BD0C-25920A4A9A3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8372475" y="2768124"/>
            <a:ext cx="0" cy="822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973BB5-C681-7589-9D51-B459730A00DD}"/>
              </a:ext>
            </a:extLst>
          </p:cNvPr>
          <p:cNvSpPr/>
          <p:nvPr/>
        </p:nvSpPr>
        <p:spPr>
          <a:xfrm>
            <a:off x="0" y="164592"/>
            <a:ext cx="15240304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End-to-End Retail Data Platform Flow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35F161B-0E78-AA23-D023-E0C02778A67D}"/>
              </a:ext>
            </a:extLst>
          </p:cNvPr>
          <p:cNvSpPr/>
          <p:nvPr/>
        </p:nvSpPr>
        <p:spPr>
          <a:xfrm>
            <a:off x="685800" y="1417320"/>
            <a:ext cx="2148839" cy="685800"/>
          </a:xfrm>
          <a:custGeom>
            <a:avLst>
              <a:gd name="f10" fmla="val 14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44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D9D9D9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0625A6-F3D1-DA15-7F5D-43BD3A06C721}"/>
              </a:ext>
            </a:extLst>
          </p:cNvPr>
          <p:cNvSpPr/>
          <p:nvPr/>
        </p:nvSpPr>
        <p:spPr>
          <a:xfrm>
            <a:off x="731520" y="1453896"/>
            <a:ext cx="2057400" cy="6126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GitHub Repository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8937F6-E76B-45BA-998B-BE34F33BE2BE}"/>
              </a:ext>
            </a:extLst>
          </p:cNvPr>
          <p:cNvSpPr/>
          <p:nvPr/>
        </p:nvSpPr>
        <p:spPr>
          <a:xfrm>
            <a:off x="3657600" y="1307592"/>
            <a:ext cx="2743200" cy="914400"/>
          </a:xfrm>
          <a:custGeom>
            <a:avLst>
              <a:gd name="f1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274777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13760A-965D-5F1E-281F-74BCA3FB7122}"/>
              </a:ext>
            </a:extLst>
          </p:cNvPr>
          <p:cNvSpPr/>
          <p:nvPr/>
        </p:nvSpPr>
        <p:spPr>
          <a:xfrm>
            <a:off x="3703320" y="1344168"/>
            <a:ext cx="2651760" cy="8412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GitHub Actions CI/CD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Test, Build, Deploy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DC67D12-E372-CCB2-DB95-E160A25E5788}"/>
              </a:ext>
            </a:extLst>
          </p:cNvPr>
          <p:cNvSpPr/>
          <p:nvPr/>
        </p:nvSpPr>
        <p:spPr>
          <a:xfrm>
            <a:off x="7452360" y="1307592"/>
            <a:ext cx="3794759" cy="914400"/>
          </a:xfrm>
          <a:custGeom>
            <a:avLst>
              <a:gd name="f1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C0000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891A97-2EC2-2360-07AA-13803E780118}"/>
              </a:ext>
            </a:extLst>
          </p:cNvPr>
          <p:cNvSpPr/>
          <p:nvPr/>
        </p:nvSpPr>
        <p:spPr>
          <a:xfrm>
            <a:off x="7498079" y="1344168"/>
            <a:ext cx="3703320" cy="8412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1" i="0" u="none" strike="noStrike" kern="1200" cap="none" spc="0" baseline="0">
                <a:solidFill>
                  <a:srgbClr val="C00000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Snowflake Governance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1" i="0" u="none" strike="noStrike" kern="1200" cap="none" spc="0" baseline="0">
                <a:solidFill>
                  <a:srgbClr val="C00000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RBAC, PII Tagging, Resource Monitor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FAE3833-65C6-C32E-7972-6BDCDB5D43A8}"/>
              </a:ext>
            </a:extLst>
          </p:cNvPr>
          <p:cNvSpPr/>
          <p:nvPr/>
        </p:nvSpPr>
        <p:spPr>
          <a:xfrm>
            <a:off x="2834640" y="1755648"/>
            <a:ext cx="82296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274777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EE9917C-2A68-41BE-FC3B-7B78316B43C1}"/>
              </a:ext>
            </a:extLst>
          </p:cNvPr>
          <p:cNvSpPr/>
          <p:nvPr/>
        </p:nvSpPr>
        <p:spPr>
          <a:xfrm>
            <a:off x="6400800" y="1755648"/>
            <a:ext cx="105156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274777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FA280F1-7B89-4ACA-D343-4F03EE84F828}"/>
              </a:ext>
            </a:extLst>
          </p:cNvPr>
          <p:cNvSpPr/>
          <p:nvPr/>
        </p:nvSpPr>
        <p:spPr>
          <a:xfrm>
            <a:off x="594360" y="3794759"/>
            <a:ext cx="1691640" cy="960120"/>
          </a:xfrm>
          <a:custGeom>
            <a:avLst>
              <a:gd name="f10" fmla="val 102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2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D9D9D9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D405EC2-4F04-E95A-113B-0961C118DB87}"/>
              </a:ext>
            </a:extLst>
          </p:cNvPr>
          <p:cNvSpPr/>
          <p:nvPr/>
        </p:nvSpPr>
        <p:spPr>
          <a:xfrm>
            <a:off x="640080" y="3831335"/>
            <a:ext cx="1600200" cy="8869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1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Source Files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CSV Extracts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B25D400-A472-4692-EB26-CB6F98B8F6A8}"/>
              </a:ext>
            </a:extLst>
          </p:cNvPr>
          <p:cNvSpPr/>
          <p:nvPr/>
        </p:nvSpPr>
        <p:spPr>
          <a:xfrm>
            <a:off x="2788920" y="3794759"/>
            <a:ext cx="1691640" cy="960120"/>
          </a:xfrm>
          <a:custGeom>
            <a:avLst>
              <a:gd name="f10" fmla="val 102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2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4C7F2E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4451135-29DE-961B-5C3B-517C12BBC5BA}"/>
              </a:ext>
            </a:extLst>
          </p:cNvPr>
          <p:cNvSpPr/>
          <p:nvPr/>
        </p:nvSpPr>
        <p:spPr>
          <a:xfrm>
            <a:off x="2834640" y="3831335"/>
            <a:ext cx="1600200" cy="8869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2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Python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Ingestion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EABB7E5-23F6-CDDA-D550-F08D9ABAC7BC}"/>
              </a:ext>
            </a:extLst>
          </p:cNvPr>
          <p:cNvSpPr/>
          <p:nvPr/>
        </p:nvSpPr>
        <p:spPr>
          <a:xfrm>
            <a:off x="4983480" y="3794759"/>
            <a:ext cx="1874519" cy="960120"/>
          </a:xfrm>
          <a:custGeom>
            <a:avLst>
              <a:gd name="f10" fmla="val 102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2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4D4EDD9-9BC8-D395-9FA3-B530BC06FCC6}"/>
              </a:ext>
            </a:extLst>
          </p:cNvPr>
          <p:cNvSpPr/>
          <p:nvPr/>
        </p:nvSpPr>
        <p:spPr>
          <a:xfrm>
            <a:off x="5029200" y="3831335"/>
            <a:ext cx="1783080" cy="8869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 dirty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3</a:t>
            </a:r>
            <a:endParaRPr lang="en-US" sz="94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 dirty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RAW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 dirty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Landing Layer</a:t>
            </a:r>
            <a:endParaRPr lang="en-US" sz="94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E2CFC0F-DB9C-519F-75AD-EDBB93A565F9}"/>
              </a:ext>
            </a:extLst>
          </p:cNvPr>
          <p:cNvSpPr/>
          <p:nvPr/>
        </p:nvSpPr>
        <p:spPr>
          <a:xfrm>
            <a:off x="7360920" y="3794759"/>
            <a:ext cx="1920240" cy="960120"/>
          </a:xfrm>
          <a:custGeom>
            <a:avLst>
              <a:gd name="f10" fmla="val 102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2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ED7D31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D1EA57-1036-E410-8EEA-C43C792DD460}"/>
              </a:ext>
            </a:extLst>
          </p:cNvPr>
          <p:cNvSpPr/>
          <p:nvPr/>
        </p:nvSpPr>
        <p:spPr>
          <a:xfrm>
            <a:off x="7406640" y="3831335"/>
            <a:ext cx="1828800" cy="8869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 dirty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4</a:t>
            </a:r>
            <a:endParaRPr lang="en-US" sz="94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 dirty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Intermediate(</a:t>
            </a:r>
            <a:r>
              <a:rPr lang="en-US" sz="940" b="1" i="0" u="none" strike="noStrike" kern="1200" cap="none" spc="0" baseline="0" dirty="0" err="1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dbt</a:t>
            </a:r>
            <a:r>
              <a:rPr lang="en-US" sz="940" b="1" i="0" u="none" strike="noStrike" kern="1200" cap="none" spc="0" baseline="0" dirty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 Models</a:t>
            </a:r>
            <a:endParaRPr lang="en-US" sz="94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 dirty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Staging to Marts)</a:t>
            </a:r>
            <a:endParaRPr lang="en-US" sz="94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02D62A9-A05D-57D0-C6BD-127A7892BB12}"/>
              </a:ext>
            </a:extLst>
          </p:cNvPr>
          <p:cNvSpPr/>
          <p:nvPr/>
        </p:nvSpPr>
        <p:spPr>
          <a:xfrm>
            <a:off x="9829800" y="3794759"/>
            <a:ext cx="1920240" cy="960120"/>
          </a:xfrm>
          <a:custGeom>
            <a:avLst>
              <a:gd name="f10" fmla="val 102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2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D4EBF36-1337-05C7-14B6-97759D3ABFE3}"/>
              </a:ext>
            </a:extLst>
          </p:cNvPr>
          <p:cNvSpPr/>
          <p:nvPr/>
        </p:nvSpPr>
        <p:spPr>
          <a:xfrm>
            <a:off x="9875520" y="3831335"/>
            <a:ext cx="1828800" cy="8869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5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ANALYTICS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Star Schema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A86BF09-97CE-A3E8-D6A2-2049E154BC70}"/>
              </a:ext>
            </a:extLst>
          </p:cNvPr>
          <p:cNvSpPr/>
          <p:nvPr/>
        </p:nvSpPr>
        <p:spPr>
          <a:xfrm>
            <a:off x="12298680" y="3794759"/>
            <a:ext cx="1920240" cy="960120"/>
          </a:xfrm>
          <a:custGeom>
            <a:avLst>
              <a:gd name="f10" fmla="val 102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2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D9D9D9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4CE73EE-0DA7-E887-291A-F291D8583243}"/>
              </a:ext>
            </a:extLst>
          </p:cNvPr>
          <p:cNvSpPr/>
          <p:nvPr/>
        </p:nvSpPr>
        <p:spPr>
          <a:xfrm>
            <a:off x="12344400" y="3831335"/>
            <a:ext cx="1828800" cy="8869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6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BI and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Reporting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8D2B494-65A5-2CB1-93EE-511752CAF90B}"/>
              </a:ext>
            </a:extLst>
          </p:cNvPr>
          <p:cNvSpPr/>
          <p:nvPr/>
        </p:nvSpPr>
        <p:spPr>
          <a:xfrm>
            <a:off x="2286000" y="4270248"/>
            <a:ext cx="50292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7775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0D0A48E-A018-8EE5-4023-D0B92D8B2B9E}"/>
              </a:ext>
            </a:extLst>
          </p:cNvPr>
          <p:cNvSpPr/>
          <p:nvPr/>
        </p:nvSpPr>
        <p:spPr>
          <a:xfrm>
            <a:off x="4480560" y="4270248"/>
            <a:ext cx="50292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7775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A5EE1E6-8872-83F8-7BEF-847F90E0EBB2}"/>
              </a:ext>
            </a:extLst>
          </p:cNvPr>
          <p:cNvSpPr/>
          <p:nvPr/>
        </p:nvSpPr>
        <p:spPr>
          <a:xfrm>
            <a:off x="6858000" y="4270248"/>
            <a:ext cx="50292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7775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B6FE85C-8339-52F2-1272-86AB4DCE429B}"/>
              </a:ext>
            </a:extLst>
          </p:cNvPr>
          <p:cNvSpPr/>
          <p:nvPr/>
        </p:nvSpPr>
        <p:spPr>
          <a:xfrm>
            <a:off x="9281160" y="4270248"/>
            <a:ext cx="54864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7775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E2C9619-8B2B-9287-3D9B-D8F5AE5360C9}"/>
              </a:ext>
            </a:extLst>
          </p:cNvPr>
          <p:cNvSpPr/>
          <p:nvPr/>
        </p:nvSpPr>
        <p:spPr>
          <a:xfrm>
            <a:off x="11750040" y="4270248"/>
            <a:ext cx="54864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7775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0BF8ACD-F35B-80B4-A89A-7141C2CD5D86}"/>
              </a:ext>
            </a:extLst>
          </p:cNvPr>
          <p:cNvSpPr/>
          <p:nvPr/>
        </p:nvSpPr>
        <p:spPr>
          <a:xfrm>
            <a:off x="2103120" y="5897880"/>
            <a:ext cx="3931920" cy="868680"/>
          </a:xfrm>
          <a:custGeom>
            <a:avLst>
              <a:gd name="f10" fmla="val 113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137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9DBEA0B-78E5-56C6-E7A0-56E9D853C526}"/>
              </a:ext>
            </a:extLst>
          </p:cNvPr>
          <p:cNvSpPr/>
          <p:nvPr/>
        </p:nvSpPr>
        <p:spPr>
          <a:xfrm>
            <a:off x="2148839" y="5934456"/>
            <a:ext cx="3840480" cy="7955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Dimension Builds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DIM_DATE, DIM_CUSTOMER, DIM_PRODUCT, DIM_STORE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0FA47CE-E0C6-84D0-4B85-C49189AB8945}"/>
              </a:ext>
            </a:extLst>
          </p:cNvPr>
          <p:cNvSpPr/>
          <p:nvPr/>
        </p:nvSpPr>
        <p:spPr>
          <a:xfrm>
            <a:off x="6492240" y="5897880"/>
            <a:ext cx="3520439" cy="868680"/>
          </a:xfrm>
          <a:custGeom>
            <a:avLst>
              <a:gd name="f10" fmla="val 113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137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C00000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F9E8AAD-B7F1-BB6B-90CC-AFED2D8F89A1}"/>
              </a:ext>
            </a:extLst>
          </p:cNvPr>
          <p:cNvSpPr/>
          <p:nvPr/>
        </p:nvSpPr>
        <p:spPr>
          <a:xfrm>
            <a:off x="6537959" y="5934456"/>
            <a:ext cx="3429000" cy="7955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Fact Builds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FCT_SALES, FCT_INVENTORY_DAILY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6620384-4360-6E12-8B76-2C2B6C7F2749}"/>
              </a:ext>
            </a:extLst>
          </p:cNvPr>
          <p:cNvSpPr/>
          <p:nvPr/>
        </p:nvSpPr>
        <p:spPr>
          <a:xfrm>
            <a:off x="10469880" y="5897880"/>
            <a:ext cx="3474720" cy="868680"/>
          </a:xfrm>
          <a:custGeom>
            <a:avLst>
              <a:gd name="f10" fmla="val 113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137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04F04ED-FB97-788A-3859-283EB38A9B68}"/>
              </a:ext>
            </a:extLst>
          </p:cNvPr>
          <p:cNvSpPr/>
          <p:nvPr/>
        </p:nvSpPr>
        <p:spPr>
          <a:xfrm>
            <a:off x="10515600" y="5934456"/>
            <a:ext cx="3383280" cy="7955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Business Consumption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Dashboards, Reports, Analysis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18F86A2-51FF-AEFD-7566-6BB517FD4770}"/>
              </a:ext>
            </a:extLst>
          </p:cNvPr>
          <p:cNvSpPr/>
          <p:nvPr/>
        </p:nvSpPr>
        <p:spPr>
          <a:xfrm>
            <a:off x="6035040" y="6336792"/>
            <a:ext cx="45720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B927786-F117-5E0B-5AD0-506C1CA27517}"/>
              </a:ext>
            </a:extLst>
          </p:cNvPr>
          <p:cNvSpPr/>
          <p:nvPr/>
        </p:nvSpPr>
        <p:spPr>
          <a:xfrm>
            <a:off x="10012680" y="6336792"/>
            <a:ext cx="45720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DFFDEF5-2CD4-2406-AB8D-24A78A1663A3}"/>
              </a:ext>
            </a:extLst>
          </p:cNvPr>
          <p:cNvSpPr/>
          <p:nvPr/>
        </p:nvSpPr>
        <p:spPr>
          <a:xfrm>
            <a:off x="1097280" y="8001000"/>
            <a:ext cx="3108960" cy="594360"/>
          </a:xfrm>
          <a:custGeom>
            <a:avLst>
              <a:gd name="f10" fmla="val 166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661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4F09749-8253-D712-F4AD-35CD5B64648A}"/>
              </a:ext>
            </a:extLst>
          </p:cNvPr>
          <p:cNvSpPr/>
          <p:nvPr/>
        </p:nvSpPr>
        <p:spPr>
          <a:xfrm>
            <a:off x="1143000" y="8037575"/>
            <a:ext cx="3017520" cy="5212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Warehouses: RETAIL_LOAD_WH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500675C-5424-6165-CBAC-BD725B61E6C7}"/>
              </a:ext>
            </a:extLst>
          </p:cNvPr>
          <p:cNvSpPr/>
          <p:nvPr/>
        </p:nvSpPr>
        <p:spPr>
          <a:xfrm>
            <a:off x="5669280" y="8001000"/>
            <a:ext cx="3108960" cy="594360"/>
          </a:xfrm>
          <a:custGeom>
            <a:avLst>
              <a:gd name="f10" fmla="val 166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661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4BC643C-06F7-69F2-CA1C-DE9F0707AB13}"/>
              </a:ext>
            </a:extLst>
          </p:cNvPr>
          <p:cNvSpPr/>
          <p:nvPr/>
        </p:nvSpPr>
        <p:spPr>
          <a:xfrm>
            <a:off x="5715000" y="8037575"/>
            <a:ext cx="3017520" cy="5212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RETAIL_TRANSFORM_WH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ED82118-83D8-96BF-512C-0D61A2F58851}"/>
              </a:ext>
            </a:extLst>
          </p:cNvPr>
          <p:cNvSpPr/>
          <p:nvPr/>
        </p:nvSpPr>
        <p:spPr>
          <a:xfrm>
            <a:off x="10241280" y="8001000"/>
            <a:ext cx="3108960" cy="594360"/>
          </a:xfrm>
          <a:custGeom>
            <a:avLst>
              <a:gd name="f10" fmla="val 166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661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386D1F2-0CAF-CE31-C84A-74A441B9EC7B}"/>
              </a:ext>
            </a:extLst>
          </p:cNvPr>
          <p:cNvSpPr/>
          <p:nvPr/>
        </p:nvSpPr>
        <p:spPr>
          <a:xfrm>
            <a:off x="10287000" y="8037575"/>
            <a:ext cx="3017520" cy="5212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RETAIL_BI_WH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B7D113-3620-840D-732F-B2A3F3C04785}"/>
              </a:ext>
            </a:extLst>
          </p:cNvPr>
          <p:cNvSpPr/>
          <p:nvPr/>
        </p:nvSpPr>
        <p:spPr>
          <a:xfrm>
            <a:off x="0" y="164592"/>
            <a:ext cx="15240304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RAW Source Layer - Entity Relationships (1:1 with source files)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4F9DF3-31E7-5127-3C97-EAA6BB6DA82C}"/>
              </a:ext>
            </a:extLst>
          </p:cNvPr>
          <p:cNvSpPr/>
          <p:nvPr/>
        </p:nvSpPr>
        <p:spPr>
          <a:xfrm>
            <a:off x="612648" y="1051560"/>
            <a:ext cx="3538727" cy="2468880"/>
          </a:xfrm>
          <a:custGeom>
            <a:avLst>
              <a:gd name="f10" fmla="val 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2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D409A8-EBE9-ECED-7401-CF29B4E978FA}"/>
              </a:ext>
            </a:extLst>
          </p:cNvPr>
          <p:cNvSpPr/>
          <p:nvPr/>
        </p:nvSpPr>
        <p:spPr>
          <a:xfrm>
            <a:off x="612648" y="1051560"/>
            <a:ext cx="3538727" cy="530352"/>
          </a:xfrm>
          <a:prstGeom prst="rect">
            <a:avLst/>
          </a:pr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9426AF-D2FB-BBCD-8177-AAF20E9CF991}"/>
              </a:ext>
            </a:extLst>
          </p:cNvPr>
          <p:cNvSpPr/>
          <p:nvPr/>
        </p:nvSpPr>
        <p:spPr>
          <a:xfrm>
            <a:off x="612648" y="1097280"/>
            <a:ext cx="35387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CUSTOMERS</a:t>
            </a:r>
            <a:endParaRPr lang="en-US" sz="14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AB1623-0BA3-9B5C-2D1D-7B4701366D4A}"/>
              </a:ext>
            </a:extLst>
          </p:cNvPr>
          <p:cNvSpPr/>
          <p:nvPr/>
        </p:nvSpPr>
        <p:spPr>
          <a:xfrm>
            <a:off x="777240" y="1673352"/>
            <a:ext cx="3209544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customer_id (PK)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A5F604-8CD5-BAEE-BAF9-6C81B4DFABB4}"/>
              </a:ext>
            </a:extLst>
          </p:cNvPr>
          <p:cNvSpPr/>
          <p:nvPr/>
        </p:nvSpPr>
        <p:spPr>
          <a:xfrm>
            <a:off x="777240" y="1965960"/>
            <a:ext cx="3209544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first_name, last_name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3DF93C3-9DCF-09CD-DA66-15BF371C1B20}"/>
              </a:ext>
            </a:extLst>
          </p:cNvPr>
          <p:cNvSpPr/>
          <p:nvPr/>
        </p:nvSpPr>
        <p:spPr>
          <a:xfrm>
            <a:off x="777240" y="2258568"/>
            <a:ext cx="3209544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email, phone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9818A2-7E91-6005-7E15-FBABB24094EA}"/>
              </a:ext>
            </a:extLst>
          </p:cNvPr>
          <p:cNvSpPr/>
          <p:nvPr/>
        </p:nvSpPr>
        <p:spPr>
          <a:xfrm>
            <a:off x="777240" y="2551176"/>
            <a:ext cx="3209544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city, state, country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2AECF7-F8BB-774A-9F2E-AF5437555045}"/>
              </a:ext>
            </a:extLst>
          </p:cNvPr>
          <p:cNvSpPr/>
          <p:nvPr/>
        </p:nvSpPr>
        <p:spPr>
          <a:xfrm>
            <a:off x="777240" y="2843784"/>
            <a:ext cx="3209544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loyalty_tier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8C877FF-F8FC-5C62-4009-B4109A5431C6}"/>
              </a:ext>
            </a:extLst>
          </p:cNvPr>
          <p:cNvSpPr/>
          <p:nvPr/>
        </p:nvSpPr>
        <p:spPr>
          <a:xfrm>
            <a:off x="777240" y="3136391"/>
            <a:ext cx="3209544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signup_date, updated_at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A685A0D-4D74-33AC-1C9F-31B89083C273}"/>
              </a:ext>
            </a:extLst>
          </p:cNvPr>
          <p:cNvSpPr/>
          <p:nvPr/>
        </p:nvSpPr>
        <p:spPr>
          <a:xfrm>
            <a:off x="612648" y="3977639"/>
            <a:ext cx="3538727" cy="2651760"/>
          </a:xfrm>
          <a:custGeom>
            <a:avLst>
              <a:gd name="f10" fmla="val 29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29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5CD007-C43B-1EFB-F04D-B693469E0C1D}"/>
              </a:ext>
            </a:extLst>
          </p:cNvPr>
          <p:cNvSpPr/>
          <p:nvPr/>
        </p:nvSpPr>
        <p:spPr>
          <a:xfrm>
            <a:off x="612648" y="3977639"/>
            <a:ext cx="3538727" cy="530352"/>
          </a:xfrm>
          <a:prstGeom prst="rect">
            <a:avLst/>
          </a:pr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4AF23C4-48AC-62E8-03CB-271C539524E4}"/>
              </a:ext>
            </a:extLst>
          </p:cNvPr>
          <p:cNvSpPr/>
          <p:nvPr/>
        </p:nvSpPr>
        <p:spPr>
          <a:xfrm>
            <a:off x="612648" y="4023360"/>
            <a:ext cx="35387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PRODUCTS</a:t>
            </a:r>
            <a:endParaRPr lang="en-US" sz="14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1598218-4A85-5625-FABE-BEE2E495D891}"/>
              </a:ext>
            </a:extLst>
          </p:cNvPr>
          <p:cNvSpPr/>
          <p:nvPr/>
        </p:nvSpPr>
        <p:spPr>
          <a:xfrm>
            <a:off x="777240" y="4599432"/>
            <a:ext cx="32095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product_id (PK)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F7D02D2-F7D4-6752-35C0-4C7356AA23F7}"/>
              </a:ext>
            </a:extLst>
          </p:cNvPr>
          <p:cNvSpPr/>
          <p:nvPr/>
        </p:nvSpPr>
        <p:spPr>
          <a:xfrm>
            <a:off x="777240" y="4922516"/>
            <a:ext cx="32095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sku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9902F9D-C9EE-EF1A-F2EF-912230ECA62C}"/>
              </a:ext>
            </a:extLst>
          </p:cNvPr>
          <p:cNvSpPr/>
          <p:nvPr/>
        </p:nvSpPr>
        <p:spPr>
          <a:xfrm>
            <a:off x="777240" y="5245611"/>
            <a:ext cx="32095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product_name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46BDCA6-3129-0CC6-0911-2825A667726C}"/>
              </a:ext>
            </a:extLst>
          </p:cNvPr>
          <p:cNvSpPr/>
          <p:nvPr/>
        </p:nvSpPr>
        <p:spPr>
          <a:xfrm>
            <a:off x="777240" y="5568696"/>
            <a:ext cx="32095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category, subcategory, brand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26F32B9-4E39-FB45-6E98-3827B6D189ED}"/>
              </a:ext>
            </a:extLst>
          </p:cNvPr>
          <p:cNvSpPr/>
          <p:nvPr/>
        </p:nvSpPr>
        <p:spPr>
          <a:xfrm>
            <a:off x="777240" y="5891780"/>
            <a:ext cx="32095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unit_cost, unit_price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0F73A00-E95A-11D4-D7E5-462D35608414}"/>
              </a:ext>
            </a:extLst>
          </p:cNvPr>
          <p:cNvSpPr/>
          <p:nvPr/>
        </p:nvSpPr>
        <p:spPr>
          <a:xfrm>
            <a:off x="777240" y="6214875"/>
            <a:ext cx="32095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is_active, created_at, updated_at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572792A-E666-EB53-1C36-5D07A553E71C}"/>
              </a:ext>
            </a:extLst>
          </p:cNvPr>
          <p:cNvSpPr/>
          <p:nvPr/>
        </p:nvSpPr>
        <p:spPr>
          <a:xfrm>
            <a:off x="612648" y="7132320"/>
            <a:ext cx="3538727" cy="2331720"/>
          </a:xfrm>
          <a:custGeom>
            <a:avLst>
              <a:gd name="f10" fmla="val 33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3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454E02D-CB71-7FF6-6CE1-93588ABC7791}"/>
              </a:ext>
            </a:extLst>
          </p:cNvPr>
          <p:cNvSpPr/>
          <p:nvPr/>
        </p:nvSpPr>
        <p:spPr>
          <a:xfrm>
            <a:off x="612648" y="7132320"/>
            <a:ext cx="3538727" cy="530352"/>
          </a:xfrm>
          <a:prstGeom prst="rect">
            <a:avLst/>
          </a:pr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297E5B8-8F7F-04F7-3D86-28830F63272E}"/>
              </a:ext>
            </a:extLst>
          </p:cNvPr>
          <p:cNvSpPr/>
          <p:nvPr/>
        </p:nvSpPr>
        <p:spPr>
          <a:xfrm>
            <a:off x="612648" y="7178040"/>
            <a:ext cx="35387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STORES</a:t>
            </a:r>
            <a:endParaRPr lang="en-US" sz="14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1C05E2B-E559-31F2-3982-48E03063D495}"/>
              </a:ext>
            </a:extLst>
          </p:cNvPr>
          <p:cNvSpPr/>
          <p:nvPr/>
        </p:nvSpPr>
        <p:spPr>
          <a:xfrm>
            <a:off x="777240" y="7754112"/>
            <a:ext cx="32095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store_id (PK)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EA61A6F-D3C7-FA8C-3274-0E10CF1263DA}"/>
              </a:ext>
            </a:extLst>
          </p:cNvPr>
          <p:cNvSpPr/>
          <p:nvPr/>
        </p:nvSpPr>
        <p:spPr>
          <a:xfrm>
            <a:off x="777240" y="8158734"/>
            <a:ext cx="32095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store_name, store_type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9229408-A98A-4ECC-00BE-1FF96089ACBE}"/>
              </a:ext>
            </a:extLst>
          </p:cNvPr>
          <p:cNvSpPr/>
          <p:nvPr/>
        </p:nvSpPr>
        <p:spPr>
          <a:xfrm>
            <a:off x="777240" y="8563356"/>
            <a:ext cx="32095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region, city, state, country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41B4FCF-D771-0C02-0A70-6826F211337B}"/>
              </a:ext>
            </a:extLst>
          </p:cNvPr>
          <p:cNvSpPr/>
          <p:nvPr/>
        </p:nvSpPr>
        <p:spPr>
          <a:xfrm>
            <a:off x="777240" y="8967978"/>
            <a:ext cx="32095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open_date, updated_at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6102BC1-FB14-F9DE-F0C5-8E0FFDF6B8CB}"/>
              </a:ext>
            </a:extLst>
          </p:cNvPr>
          <p:cNvSpPr/>
          <p:nvPr/>
        </p:nvSpPr>
        <p:spPr>
          <a:xfrm>
            <a:off x="5961888" y="1874519"/>
            <a:ext cx="3538727" cy="2834640"/>
          </a:xfrm>
          <a:custGeom>
            <a:avLst>
              <a:gd name="f10" fmla="val 27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27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DFDC6F0-346A-D5CC-8484-C3C03A8246F7}"/>
              </a:ext>
            </a:extLst>
          </p:cNvPr>
          <p:cNvSpPr/>
          <p:nvPr/>
        </p:nvSpPr>
        <p:spPr>
          <a:xfrm>
            <a:off x="5961888" y="1874519"/>
            <a:ext cx="3538727" cy="530352"/>
          </a:xfrm>
          <a:prstGeom prst="rect">
            <a:avLst/>
          </a:prstGeom>
          <a:solidFill>
            <a:srgbClr val="ED7D31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1865C37-DAC1-377E-0219-FE7241FD1BDA}"/>
              </a:ext>
            </a:extLst>
          </p:cNvPr>
          <p:cNvSpPr/>
          <p:nvPr/>
        </p:nvSpPr>
        <p:spPr>
          <a:xfrm>
            <a:off x="5961888" y="1920240"/>
            <a:ext cx="35387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ORDERS</a:t>
            </a:r>
            <a:endParaRPr lang="en-US" sz="14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14C2816-40AA-DE22-D85F-2D7E8ED04EBB}"/>
              </a:ext>
            </a:extLst>
          </p:cNvPr>
          <p:cNvSpPr/>
          <p:nvPr/>
        </p:nvSpPr>
        <p:spPr>
          <a:xfrm>
            <a:off x="6126480" y="2496312"/>
            <a:ext cx="3209544" cy="3030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order_id (PK)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43D376F-ACD8-67D8-9F03-1D73435CB26E}"/>
              </a:ext>
            </a:extLst>
          </p:cNvPr>
          <p:cNvSpPr/>
          <p:nvPr/>
        </p:nvSpPr>
        <p:spPr>
          <a:xfrm>
            <a:off x="6126480" y="2799371"/>
            <a:ext cx="3209544" cy="3030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customer_id (FK)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F4E379E-9012-2ED3-1874-1BC1574003B8}"/>
              </a:ext>
            </a:extLst>
          </p:cNvPr>
          <p:cNvSpPr/>
          <p:nvPr/>
        </p:nvSpPr>
        <p:spPr>
          <a:xfrm>
            <a:off x="6126480" y="3102431"/>
            <a:ext cx="3209544" cy="3030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store_id (FK)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7D42807-4E8C-4D3A-F8B6-7531BBEB7E1F}"/>
              </a:ext>
            </a:extLst>
          </p:cNvPr>
          <p:cNvSpPr/>
          <p:nvPr/>
        </p:nvSpPr>
        <p:spPr>
          <a:xfrm>
            <a:off x="6126480" y="3405490"/>
            <a:ext cx="3209544" cy="3030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order_date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C149C3C-4EC8-BD33-8059-F36F98E841A0}"/>
              </a:ext>
            </a:extLst>
          </p:cNvPr>
          <p:cNvSpPr/>
          <p:nvPr/>
        </p:nvSpPr>
        <p:spPr>
          <a:xfrm>
            <a:off x="6126480" y="3708541"/>
            <a:ext cx="3209544" cy="3030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order_status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AED3052-99B2-5846-7DB3-4C78820AB065}"/>
              </a:ext>
            </a:extLst>
          </p:cNvPr>
          <p:cNvSpPr/>
          <p:nvPr/>
        </p:nvSpPr>
        <p:spPr>
          <a:xfrm>
            <a:off x="6126480" y="4011600"/>
            <a:ext cx="3209544" cy="3030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payment_method, currency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B5716B4-B17F-1569-21EA-2286758D5FA1}"/>
              </a:ext>
            </a:extLst>
          </p:cNvPr>
          <p:cNvSpPr/>
          <p:nvPr/>
        </p:nvSpPr>
        <p:spPr>
          <a:xfrm>
            <a:off x="6126480" y="4314660"/>
            <a:ext cx="3209544" cy="3030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updated_at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67E043F-4E9D-BCEF-44C6-3B0DE0EAF7A9}"/>
              </a:ext>
            </a:extLst>
          </p:cNvPr>
          <p:cNvSpPr/>
          <p:nvPr/>
        </p:nvSpPr>
        <p:spPr>
          <a:xfrm>
            <a:off x="11064240" y="1600200"/>
            <a:ext cx="3767327" cy="3063239"/>
          </a:xfrm>
          <a:custGeom>
            <a:avLst>
              <a:gd name="f10" fmla="val 25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25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2C521ED0-AD38-909A-64FE-FDE3D3B6254B}"/>
              </a:ext>
            </a:extLst>
          </p:cNvPr>
          <p:cNvSpPr/>
          <p:nvPr/>
        </p:nvSpPr>
        <p:spPr>
          <a:xfrm>
            <a:off x="11064240" y="1600200"/>
            <a:ext cx="3767327" cy="530352"/>
          </a:xfrm>
          <a:prstGeom prst="rect">
            <a:avLst/>
          </a:prstGeom>
          <a:solidFill>
            <a:srgbClr val="ED7D31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B186088-CB9D-4060-CFA2-D130F4210AA2}"/>
              </a:ext>
            </a:extLst>
          </p:cNvPr>
          <p:cNvSpPr/>
          <p:nvPr/>
        </p:nvSpPr>
        <p:spPr>
          <a:xfrm>
            <a:off x="11064240" y="1645920"/>
            <a:ext cx="37673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ORDER_ITEMS</a:t>
            </a:r>
            <a:endParaRPr lang="en-US" sz="14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2453360-AD6C-074A-D371-AB0912469CCD}"/>
              </a:ext>
            </a:extLst>
          </p:cNvPr>
          <p:cNvSpPr/>
          <p:nvPr/>
        </p:nvSpPr>
        <p:spPr>
          <a:xfrm>
            <a:off x="11228832" y="2221991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order_item_id (PK)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8C236A0-EBF1-9736-C797-A0DE87A9978F}"/>
              </a:ext>
            </a:extLst>
          </p:cNvPr>
          <p:cNvSpPr/>
          <p:nvPr/>
        </p:nvSpPr>
        <p:spPr>
          <a:xfrm>
            <a:off x="11228832" y="2557704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order_id (FK)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74F8C27-9DC7-238E-A198-295A24219730}"/>
              </a:ext>
            </a:extLst>
          </p:cNvPr>
          <p:cNvSpPr/>
          <p:nvPr/>
        </p:nvSpPr>
        <p:spPr>
          <a:xfrm>
            <a:off x="11228832" y="2893426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product_id (FK)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D123202-3975-422C-F87F-6F48163B1D39}"/>
              </a:ext>
            </a:extLst>
          </p:cNvPr>
          <p:cNvSpPr/>
          <p:nvPr/>
        </p:nvSpPr>
        <p:spPr>
          <a:xfrm>
            <a:off x="11228832" y="3229139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quantity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37D2EC0-0095-0684-4A19-E12ACB5D522D}"/>
              </a:ext>
            </a:extLst>
          </p:cNvPr>
          <p:cNvSpPr/>
          <p:nvPr/>
        </p:nvSpPr>
        <p:spPr>
          <a:xfrm>
            <a:off x="11228832" y="3564852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unit_price, discount_amount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C51FC465-A49C-4DB3-1229-18313215E526}"/>
              </a:ext>
            </a:extLst>
          </p:cNvPr>
          <p:cNvSpPr/>
          <p:nvPr/>
        </p:nvSpPr>
        <p:spPr>
          <a:xfrm>
            <a:off x="11228832" y="3900565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line_total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C793ABB-817A-1996-C530-1563E0EBBAC4}"/>
              </a:ext>
            </a:extLst>
          </p:cNvPr>
          <p:cNvSpPr/>
          <p:nvPr/>
        </p:nvSpPr>
        <p:spPr>
          <a:xfrm>
            <a:off x="11228832" y="4236287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updated_at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0ED12AC-AEB0-285C-4600-FA0AEE2F3D9F}"/>
              </a:ext>
            </a:extLst>
          </p:cNvPr>
          <p:cNvSpPr/>
          <p:nvPr/>
        </p:nvSpPr>
        <p:spPr>
          <a:xfrm>
            <a:off x="5961888" y="6903720"/>
            <a:ext cx="4224527" cy="2697479"/>
          </a:xfrm>
          <a:custGeom>
            <a:avLst>
              <a:gd name="f10" fmla="val 293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293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DB6C9B6-8DFD-9EF8-4FD0-8D30C266F086}"/>
              </a:ext>
            </a:extLst>
          </p:cNvPr>
          <p:cNvSpPr/>
          <p:nvPr/>
        </p:nvSpPr>
        <p:spPr>
          <a:xfrm>
            <a:off x="5961888" y="6903720"/>
            <a:ext cx="4224527" cy="530352"/>
          </a:xfrm>
          <a:prstGeom prst="rect">
            <a:avLst/>
          </a:prstGeom>
          <a:solidFill>
            <a:srgbClr val="4C7F2E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E5E07CB-CCB1-E66B-0C1D-DA30245747E2}"/>
              </a:ext>
            </a:extLst>
          </p:cNvPr>
          <p:cNvSpPr/>
          <p:nvPr/>
        </p:nvSpPr>
        <p:spPr>
          <a:xfrm>
            <a:off x="5961888" y="6949440"/>
            <a:ext cx="42245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INVENTORY_SNAPSHOTS</a:t>
            </a:r>
            <a:endParaRPr lang="en-US" sz="14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D8326CD-307B-685D-A8CF-373126D67663}"/>
              </a:ext>
            </a:extLst>
          </p:cNvPr>
          <p:cNvSpPr/>
          <p:nvPr/>
        </p:nvSpPr>
        <p:spPr>
          <a:xfrm>
            <a:off x="6126480" y="7525511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snapshot_date (PK part)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811D71C9-0A61-E54C-0DBD-30FB80C39C03}"/>
              </a:ext>
            </a:extLst>
          </p:cNvPr>
          <p:cNvSpPr/>
          <p:nvPr/>
        </p:nvSpPr>
        <p:spPr>
          <a:xfrm>
            <a:off x="6126480" y="7856223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store_id (FK)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BF093B1C-B706-79F0-8748-5B86B1827EDC}"/>
              </a:ext>
            </a:extLst>
          </p:cNvPr>
          <p:cNvSpPr/>
          <p:nvPr/>
        </p:nvSpPr>
        <p:spPr>
          <a:xfrm>
            <a:off x="6126480" y="8186924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product_id (FK)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CF0EED71-10F6-8E28-7442-85E230AC3F9F}"/>
              </a:ext>
            </a:extLst>
          </p:cNvPr>
          <p:cNvSpPr/>
          <p:nvPr/>
        </p:nvSpPr>
        <p:spPr>
          <a:xfrm>
            <a:off x="6126480" y="8517636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quantity_on_hand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FBA82478-CECF-0F94-233F-098AC6FAA8FF}"/>
              </a:ext>
            </a:extLst>
          </p:cNvPr>
          <p:cNvSpPr/>
          <p:nvPr/>
        </p:nvSpPr>
        <p:spPr>
          <a:xfrm>
            <a:off x="6126480" y="8848347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quantity_reserved, reorder_point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6BE29AF0-869F-F513-E96E-60B2742B3C04}"/>
              </a:ext>
            </a:extLst>
          </p:cNvPr>
          <p:cNvSpPr/>
          <p:nvPr/>
        </p:nvSpPr>
        <p:spPr>
          <a:xfrm>
            <a:off x="6126480" y="9179048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updated_at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BA475477-DFD1-6D83-6A32-152BCA6B69DC}"/>
              </a:ext>
            </a:extLst>
          </p:cNvPr>
          <p:cNvSpPr/>
          <p:nvPr/>
        </p:nvSpPr>
        <p:spPr>
          <a:xfrm>
            <a:off x="2267712" y="2148839"/>
            <a:ext cx="3657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1:N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72BF76C-979D-9B98-4BC3-F9E9AEFB53A9}"/>
              </a:ext>
            </a:extLst>
          </p:cNvPr>
          <p:cNvSpPr/>
          <p:nvPr/>
        </p:nvSpPr>
        <p:spPr>
          <a:xfrm>
            <a:off x="2267712" y="5166359"/>
            <a:ext cx="3657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1:N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6730A3B6-45CE-4465-65A9-7CAD1081F283}"/>
              </a:ext>
            </a:extLst>
          </p:cNvPr>
          <p:cNvSpPr/>
          <p:nvPr/>
        </p:nvSpPr>
        <p:spPr>
          <a:xfrm>
            <a:off x="2267712" y="8092440"/>
            <a:ext cx="3657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1:N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61E175D9-6D56-AB4C-B863-57378DBDFF5C}"/>
              </a:ext>
            </a:extLst>
          </p:cNvPr>
          <p:cNvSpPr/>
          <p:nvPr/>
        </p:nvSpPr>
        <p:spPr>
          <a:xfrm>
            <a:off x="7607808" y="3182112"/>
            <a:ext cx="3657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1:N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A5D26D-9FDC-7645-7B42-26EBA0B4D0F0}"/>
              </a:ext>
            </a:extLst>
          </p:cNvPr>
          <p:cNvSpPr/>
          <p:nvPr/>
        </p:nvSpPr>
        <p:spPr>
          <a:xfrm>
            <a:off x="0" y="164592"/>
            <a:ext cx="15240304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Fact and Dimension Build Flow - Dimensions Load Before Facts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BA3B42-19E0-24D3-A4E5-7BA65F0D1AF5}"/>
              </a:ext>
            </a:extLst>
          </p:cNvPr>
          <p:cNvSpPr/>
          <p:nvPr/>
        </p:nvSpPr>
        <p:spPr>
          <a:xfrm>
            <a:off x="384048" y="3611879"/>
            <a:ext cx="2039112" cy="850392"/>
          </a:xfrm>
          <a:custGeom>
            <a:avLst>
              <a:gd name="f10" fmla="val 116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161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ED3F6C-00AE-4D02-7D25-87B7C47839DE}"/>
              </a:ext>
            </a:extLst>
          </p:cNvPr>
          <p:cNvSpPr/>
          <p:nvPr/>
        </p:nvSpPr>
        <p:spPr>
          <a:xfrm>
            <a:off x="429768" y="3648456"/>
            <a:ext cx="1947672" cy="777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customers_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snapshot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796CFE-2B19-5F53-CB97-009C0845CC83}"/>
              </a:ext>
            </a:extLst>
          </p:cNvPr>
          <p:cNvSpPr/>
          <p:nvPr/>
        </p:nvSpPr>
        <p:spPr>
          <a:xfrm>
            <a:off x="3081527" y="3822191"/>
            <a:ext cx="77724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SCD2 history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1061106-7A4F-EED5-EAA9-1E8CA7033DFE}"/>
              </a:ext>
            </a:extLst>
          </p:cNvPr>
          <p:cNvSpPr/>
          <p:nvPr/>
        </p:nvSpPr>
        <p:spPr>
          <a:xfrm>
            <a:off x="2423160" y="4032504"/>
            <a:ext cx="1901952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B59CE5D-D951-05AE-82E3-ED0FD4DD4F2F}"/>
              </a:ext>
            </a:extLst>
          </p:cNvPr>
          <p:cNvSpPr/>
          <p:nvPr/>
        </p:nvSpPr>
        <p:spPr>
          <a:xfrm>
            <a:off x="384048" y="5806440"/>
            <a:ext cx="2039112" cy="1143000"/>
          </a:xfrm>
          <a:custGeom>
            <a:avLst>
              <a:gd name="f10" fmla="val 8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864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EA4FB14-882A-3D3A-1EBA-95A00500575D}"/>
              </a:ext>
            </a:extLst>
          </p:cNvPr>
          <p:cNvSpPr/>
          <p:nvPr/>
        </p:nvSpPr>
        <p:spPr>
          <a:xfrm>
            <a:off x="429768" y="5843016"/>
            <a:ext cx="1947672" cy="10698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INTERMEDIATE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order_items, inventory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E936CA3-5116-AEED-B8BF-A3617D385563}"/>
              </a:ext>
            </a:extLst>
          </p:cNvPr>
          <p:cNvSpPr/>
          <p:nvPr/>
        </p:nvSpPr>
        <p:spPr>
          <a:xfrm>
            <a:off x="4325112" y="1783080"/>
            <a:ext cx="2240279" cy="914400"/>
          </a:xfrm>
          <a:custGeom>
            <a:avLst>
              <a:gd name="f1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6DA9AA0-43B0-41C2-9635-C36D4F52206D}"/>
              </a:ext>
            </a:extLst>
          </p:cNvPr>
          <p:cNvSpPr/>
          <p:nvPr/>
        </p:nvSpPr>
        <p:spPr>
          <a:xfrm>
            <a:off x="4370832" y="1819656"/>
            <a:ext cx="2148839" cy="8412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1.0 Build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DIM_DATE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C5195A7-6FB5-F9FC-68AD-8155DA51C132}"/>
              </a:ext>
            </a:extLst>
          </p:cNvPr>
          <p:cNvSpPr/>
          <p:nvPr/>
        </p:nvSpPr>
        <p:spPr>
          <a:xfrm>
            <a:off x="8046720" y="1810512"/>
            <a:ext cx="1691640" cy="859536"/>
          </a:xfrm>
          <a:custGeom>
            <a:avLst>
              <a:gd name="f10" fmla="val 114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14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ADFF6E4-0143-9716-7E82-A099C27E6D27}"/>
              </a:ext>
            </a:extLst>
          </p:cNvPr>
          <p:cNvSpPr/>
          <p:nvPr/>
        </p:nvSpPr>
        <p:spPr>
          <a:xfrm>
            <a:off x="8092440" y="1847088"/>
            <a:ext cx="1600200" cy="7863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DIM_DATE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8FCE563-7F4A-EA62-DA59-65946EB785EC}"/>
              </a:ext>
            </a:extLst>
          </p:cNvPr>
          <p:cNvSpPr/>
          <p:nvPr/>
        </p:nvSpPr>
        <p:spPr>
          <a:xfrm>
            <a:off x="6565392" y="2240279"/>
            <a:ext cx="148132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AC4D5C0-7FAE-A7E9-0F70-B7F42A3BAC61}"/>
              </a:ext>
            </a:extLst>
          </p:cNvPr>
          <p:cNvSpPr/>
          <p:nvPr/>
        </p:nvSpPr>
        <p:spPr>
          <a:xfrm>
            <a:off x="4325112" y="3611879"/>
            <a:ext cx="2240279" cy="914400"/>
          </a:xfrm>
          <a:custGeom>
            <a:avLst>
              <a:gd name="f1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089B5F3-BFFC-85FC-1829-7D22A0AE11C5}"/>
              </a:ext>
            </a:extLst>
          </p:cNvPr>
          <p:cNvSpPr/>
          <p:nvPr/>
        </p:nvSpPr>
        <p:spPr>
          <a:xfrm>
            <a:off x="4370832" y="3648456"/>
            <a:ext cx="2148839" cy="8412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2.0 Build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DIM_CUSTOMER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Type 2 SCD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080B952-1C4D-5D9E-286B-8DEE7A64EE7D}"/>
              </a:ext>
            </a:extLst>
          </p:cNvPr>
          <p:cNvSpPr/>
          <p:nvPr/>
        </p:nvSpPr>
        <p:spPr>
          <a:xfrm>
            <a:off x="8046720" y="3639312"/>
            <a:ext cx="1691640" cy="859536"/>
          </a:xfrm>
          <a:custGeom>
            <a:avLst>
              <a:gd name="f10" fmla="val 114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14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5B43342-BB6A-8AF2-AE97-9FC3306FC15E}"/>
              </a:ext>
            </a:extLst>
          </p:cNvPr>
          <p:cNvSpPr/>
          <p:nvPr/>
        </p:nvSpPr>
        <p:spPr>
          <a:xfrm>
            <a:off x="8092440" y="3675887"/>
            <a:ext cx="1600200" cy="7863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DIM_CUSTOMER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DFC76F3-2436-4ECA-D189-B50D933F3BA2}"/>
              </a:ext>
            </a:extLst>
          </p:cNvPr>
          <p:cNvSpPr/>
          <p:nvPr/>
        </p:nvSpPr>
        <p:spPr>
          <a:xfrm>
            <a:off x="6565392" y="4069080"/>
            <a:ext cx="148132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58F4960-9CA1-D9E0-C15B-06F5DB4B8C79}"/>
              </a:ext>
            </a:extLst>
          </p:cNvPr>
          <p:cNvSpPr/>
          <p:nvPr/>
        </p:nvSpPr>
        <p:spPr>
          <a:xfrm>
            <a:off x="4325112" y="5440680"/>
            <a:ext cx="2240279" cy="914400"/>
          </a:xfrm>
          <a:custGeom>
            <a:avLst>
              <a:gd name="f1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7F4E21D-7CA7-3360-8696-474E612C8D88}"/>
              </a:ext>
            </a:extLst>
          </p:cNvPr>
          <p:cNvSpPr/>
          <p:nvPr/>
        </p:nvSpPr>
        <p:spPr>
          <a:xfrm>
            <a:off x="4370832" y="5477256"/>
            <a:ext cx="2148839" cy="8412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3.0 Build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DIM_PRODUCT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0388BCB-9700-6DFE-B16B-B937E7D59279}"/>
              </a:ext>
            </a:extLst>
          </p:cNvPr>
          <p:cNvSpPr/>
          <p:nvPr/>
        </p:nvSpPr>
        <p:spPr>
          <a:xfrm>
            <a:off x="8046720" y="5468112"/>
            <a:ext cx="1691640" cy="859536"/>
          </a:xfrm>
          <a:custGeom>
            <a:avLst>
              <a:gd name="f10" fmla="val 114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14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0964811-D730-325B-F119-19C6E4153138}"/>
              </a:ext>
            </a:extLst>
          </p:cNvPr>
          <p:cNvSpPr/>
          <p:nvPr/>
        </p:nvSpPr>
        <p:spPr>
          <a:xfrm>
            <a:off x="8092440" y="5504688"/>
            <a:ext cx="1600200" cy="7863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DIM_PRODUCT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3A1F8F8-D30C-53F0-B81D-1C6B093FF319}"/>
              </a:ext>
            </a:extLst>
          </p:cNvPr>
          <p:cNvSpPr/>
          <p:nvPr/>
        </p:nvSpPr>
        <p:spPr>
          <a:xfrm>
            <a:off x="6565392" y="5897880"/>
            <a:ext cx="148132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4942C34-138D-F7A2-7B95-E9E28BB052AB}"/>
              </a:ext>
            </a:extLst>
          </p:cNvPr>
          <p:cNvSpPr/>
          <p:nvPr/>
        </p:nvSpPr>
        <p:spPr>
          <a:xfrm>
            <a:off x="4325112" y="7269480"/>
            <a:ext cx="2240279" cy="914400"/>
          </a:xfrm>
          <a:custGeom>
            <a:avLst>
              <a:gd name="f1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2AC2CDA-15A5-4B6A-4AF0-400E3C119764}"/>
              </a:ext>
            </a:extLst>
          </p:cNvPr>
          <p:cNvSpPr/>
          <p:nvPr/>
        </p:nvSpPr>
        <p:spPr>
          <a:xfrm>
            <a:off x="4370832" y="7306056"/>
            <a:ext cx="2148839" cy="8412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4.0 Build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3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DIM_STORE</a:t>
            </a:r>
            <a:endParaRPr lang="en-US" sz="93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75C3762-50CC-2EE5-2927-9A2CA1C47021}"/>
              </a:ext>
            </a:extLst>
          </p:cNvPr>
          <p:cNvSpPr/>
          <p:nvPr/>
        </p:nvSpPr>
        <p:spPr>
          <a:xfrm>
            <a:off x="8046720" y="7296912"/>
            <a:ext cx="1691640" cy="859536"/>
          </a:xfrm>
          <a:custGeom>
            <a:avLst>
              <a:gd name="f10" fmla="val 114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149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79A667D-A10B-53D4-6201-0EF10682B7DC}"/>
              </a:ext>
            </a:extLst>
          </p:cNvPr>
          <p:cNvSpPr/>
          <p:nvPr/>
        </p:nvSpPr>
        <p:spPr>
          <a:xfrm>
            <a:off x="8092440" y="7333488"/>
            <a:ext cx="1600200" cy="7863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DIM_STORE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919CBB2-6847-0B83-EF20-5EC3D77085DC}"/>
              </a:ext>
            </a:extLst>
          </p:cNvPr>
          <p:cNvSpPr/>
          <p:nvPr/>
        </p:nvSpPr>
        <p:spPr>
          <a:xfrm>
            <a:off x="6565392" y="7726680"/>
            <a:ext cx="148132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579744D-504A-5838-D20D-C044FA007ED7}"/>
              </a:ext>
            </a:extLst>
          </p:cNvPr>
          <p:cNvSpPr/>
          <p:nvPr/>
        </p:nvSpPr>
        <p:spPr>
          <a:xfrm>
            <a:off x="2423160" y="6382512"/>
            <a:ext cx="649224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5B59C5E-1F2D-0362-F1FD-1B5CB331D8EF}"/>
              </a:ext>
            </a:extLst>
          </p:cNvPr>
          <p:cNvSpPr/>
          <p:nvPr/>
        </p:nvSpPr>
        <p:spPr>
          <a:xfrm flipV="1">
            <a:off x="3072384" y="5897880"/>
            <a:ext cx="0" cy="48463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7A0E100-485D-87D3-BF20-1CD11DDE7AA1}"/>
              </a:ext>
            </a:extLst>
          </p:cNvPr>
          <p:cNvSpPr/>
          <p:nvPr/>
        </p:nvSpPr>
        <p:spPr>
          <a:xfrm>
            <a:off x="3072384" y="5897880"/>
            <a:ext cx="125272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93B0D10-CA31-4054-C4A8-A07C3F6FDFC8}"/>
              </a:ext>
            </a:extLst>
          </p:cNvPr>
          <p:cNvSpPr/>
          <p:nvPr/>
        </p:nvSpPr>
        <p:spPr>
          <a:xfrm>
            <a:off x="3072384" y="6382512"/>
            <a:ext cx="0" cy="134416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0A4044A-E7A9-63DD-C2A6-90FDB38D90B6}"/>
              </a:ext>
            </a:extLst>
          </p:cNvPr>
          <p:cNvSpPr/>
          <p:nvPr/>
        </p:nvSpPr>
        <p:spPr>
          <a:xfrm>
            <a:off x="3072384" y="7726680"/>
            <a:ext cx="125272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850CF45-36F7-8039-82B6-676C55D6C8C5}"/>
              </a:ext>
            </a:extLst>
          </p:cNvPr>
          <p:cNvSpPr/>
          <p:nvPr/>
        </p:nvSpPr>
        <p:spPr>
          <a:xfrm>
            <a:off x="9738360" y="2240279"/>
            <a:ext cx="68580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A58193A-7009-0423-D7B0-33837701CAD4}"/>
              </a:ext>
            </a:extLst>
          </p:cNvPr>
          <p:cNvSpPr/>
          <p:nvPr/>
        </p:nvSpPr>
        <p:spPr>
          <a:xfrm>
            <a:off x="10424160" y="2240279"/>
            <a:ext cx="0" cy="53035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8D4B9DB-523E-F409-9498-699A53DE2DF2}"/>
              </a:ext>
            </a:extLst>
          </p:cNvPr>
          <p:cNvSpPr/>
          <p:nvPr/>
        </p:nvSpPr>
        <p:spPr>
          <a:xfrm>
            <a:off x="9738360" y="4069080"/>
            <a:ext cx="68580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18B56A6-E15F-EE4B-83DD-FB297EED6DE6}"/>
              </a:ext>
            </a:extLst>
          </p:cNvPr>
          <p:cNvSpPr/>
          <p:nvPr/>
        </p:nvSpPr>
        <p:spPr>
          <a:xfrm>
            <a:off x="9738360" y="5897880"/>
            <a:ext cx="68580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F1B27AD-779D-F1D2-9DBD-70724C636E8B}"/>
              </a:ext>
            </a:extLst>
          </p:cNvPr>
          <p:cNvSpPr/>
          <p:nvPr/>
        </p:nvSpPr>
        <p:spPr>
          <a:xfrm>
            <a:off x="9738360" y="7726680"/>
            <a:ext cx="68580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3C5E9FC-A489-8A02-B267-CD896BF960CE}"/>
              </a:ext>
            </a:extLst>
          </p:cNvPr>
          <p:cNvSpPr/>
          <p:nvPr/>
        </p:nvSpPr>
        <p:spPr>
          <a:xfrm>
            <a:off x="10149840" y="5074920"/>
            <a:ext cx="8229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key lookups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3910E4A-80EF-5384-5FA8-8C2FBABBDCA1}"/>
              </a:ext>
            </a:extLst>
          </p:cNvPr>
          <p:cNvSpPr/>
          <p:nvPr/>
        </p:nvSpPr>
        <p:spPr>
          <a:xfrm>
            <a:off x="11082528" y="2944368"/>
            <a:ext cx="3081527" cy="1243584"/>
          </a:xfrm>
          <a:custGeom>
            <a:avLst>
              <a:gd name="f10" fmla="val 7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94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C00000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956F2C3-EE75-26B5-7C09-8788633B1C30}"/>
              </a:ext>
            </a:extLst>
          </p:cNvPr>
          <p:cNvSpPr/>
          <p:nvPr/>
        </p:nvSpPr>
        <p:spPr>
          <a:xfrm>
            <a:off x="11128248" y="2980944"/>
            <a:ext cx="2990088" cy="11704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5.0 Build FCT_SALES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6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Merge on order_item_id</a:t>
            </a:r>
            <a:endParaRPr lang="en-US" sz="96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4552A84-353B-2071-E1A4-12B6CD5E27FE}"/>
              </a:ext>
            </a:extLst>
          </p:cNvPr>
          <p:cNvSpPr/>
          <p:nvPr/>
        </p:nvSpPr>
        <p:spPr>
          <a:xfrm>
            <a:off x="11109960" y="4736592"/>
            <a:ext cx="2194560" cy="914400"/>
          </a:xfrm>
          <a:custGeom>
            <a:avLst>
              <a:gd name="f1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C19DF1A-80A3-44F5-DD48-48C6FF0DFEE0}"/>
              </a:ext>
            </a:extLst>
          </p:cNvPr>
          <p:cNvSpPr/>
          <p:nvPr/>
        </p:nvSpPr>
        <p:spPr>
          <a:xfrm>
            <a:off x="11155680" y="4773168"/>
            <a:ext cx="2103120" cy="8412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FCT_SALES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831BCA0-FEC8-EF9D-6FD9-E3339231BBEC}"/>
              </a:ext>
            </a:extLst>
          </p:cNvPr>
          <p:cNvSpPr/>
          <p:nvPr/>
        </p:nvSpPr>
        <p:spPr>
          <a:xfrm>
            <a:off x="10424160" y="3657600"/>
            <a:ext cx="65836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77BC684-F198-9972-300A-542AA8530E49}"/>
              </a:ext>
            </a:extLst>
          </p:cNvPr>
          <p:cNvSpPr/>
          <p:nvPr/>
        </p:nvSpPr>
        <p:spPr>
          <a:xfrm flipH="1">
            <a:off x="12198096" y="4187952"/>
            <a:ext cx="420624" cy="5486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F5880B4E-9F71-645A-4C59-95283E3989A7}"/>
              </a:ext>
            </a:extLst>
          </p:cNvPr>
          <p:cNvSpPr/>
          <p:nvPr/>
        </p:nvSpPr>
        <p:spPr>
          <a:xfrm>
            <a:off x="13624560" y="5897880"/>
            <a:ext cx="9144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 line grain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3DD2FDDC-F5DC-DA8C-B901-1FFCDD0C436E}"/>
              </a:ext>
            </a:extLst>
          </p:cNvPr>
          <p:cNvSpPr/>
          <p:nvPr/>
        </p:nvSpPr>
        <p:spPr>
          <a:xfrm>
            <a:off x="11082528" y="6446520"/>
            <a:ext cx="3081527" cy="1243584"/>
          </a:xfrm>
          <a:custGeom>
            <a:avLst>
              <a:gd name="f10" fmla="val 7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94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C00000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2AC5D9A0-0BE0-7020-A29D-575983B0FCF3}"/>
              </a:ext>
            </a:extLst>
          </p:cNvPr>
          <p:cNvSpPr/>
          <p:nvPr/>
        </p:nvSpPr>
        <p:spPr>
          <a:xfrm>
            <a:off x="11128248" y="6483096"/>
            <a:ext cx="2990088" cy="11704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6.0 Build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FCT_INVENTORY_DAILY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Merge on date, store, product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6F3E294-7035-EC0C-E4C9-D9671ADBE8E1}"/>
              </a:ext>
            </a:extLst>
          </p:cNvPr>
          <p:cNvSpPr/>
          <p:nvPr/>
        </p:nvSpPr>
        <p:spPr>
          <a:xfrm>
            <a:off x="11109960" y="8366760"/>
            <a:ext cx="2542032" cy="914400"/>
          </a:xfrm>
          <a:custGeom>
            <a:avLst>
              <a:gd name="f1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E82143C-768A-1255-855A-6A5912B9EC1E}"/>
              </a:ext>
            </a:extLst>
          </p:cNvPr>
          <p:cNvSpPr/>
          <p:nvPr/>
        </p:nvSpPr>
        <p:spPr>
          <a:xfrm>
            <a:off x="11155680" y="8403336"/>
            <a:ext cx="2450592" cy="8412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20" b="1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FCT_INVENTORY_DAILY</a:t>
            </a:r>
            <a:endParaRPr lang="en-US" sz="9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12D1AB2D-C86C-BCE4-61B5-3DE23BAEB929}"/>
              </a:ext>
            </a:extLst>
          </p:cNvPr>
          <p:cNvSpPr/>
          <p:nvPr/>
        </p:nvSpPr>
        <p:spPr>
          <a:xfrm>
            <a:off x="10424160" y="7086600"/>
            <a:ext cx="65836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AB713B0A-E8A9-1B5C-82DD-8FC86F9C8F4C}"/>
              </a:ext>
            </a:extLst>
          </p:cNvPr>
          <p:cNvSpPr/>
          <p:nvPr/>
        </p:nvSpPr>
        <p:spPr>
          <a:xfrm flipH="1">
            <a:off x="12390120" y="7690104"/>
            <a:ext cx="228600" cy="67665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4EB9FC6E-0828-949D-7AE9-49D482C345AD}"/>
              </a:ext>
            </a:extLst>
          </p:cNvPr>
          <p:cNvSpPr/>
          <p:nvPr/>
        </p:nvSpPr>
        <p:spPr>
          <a:xfrm>
            <a:off x="10515600" y="6309360"/>
            <a:ext cx="8229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key lookups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D855732-5019-08C2-545E-6C6A79AECFE7}"/>
              </a:ext>
            </a:extLst>
          </p:cNvPr>
          <p:cNvSpPr/>
          <p:nvPr/>
        </p:nvSpPr>
        <p:spPr>
          <a:xfrm>
            <a:off x="1399032" y="6949440"/>
            <a:ext cx="0" cy="269747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A22C0BFF-7706-4698-1028-AFBF0C0B5C3A}"/>
              </a:ext>
            </a:extLst>
          </p:cNvPr>
          <p:cNvSpPr/>
          <p:nvPr/>
        </p:nvSpPr>
        <p:spPr>
          <a:xfrm>
            <a:off x="1399032" y="9646920"/>
            <a:ext cx="1291132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58AD8A86-FF39-9057-8CB8-B23D29332E56}"/>
              </a:ext>
            </a:extLst>
          </p:cNvPr>
          <p:cNvSpPr/>
          <p:nvPr/>
        </p:nvSpPr>
        <p:spPr>
          <a:xfrm flipH="1" flipV="1">
            <a:off x="13807440" y="7690104"/>
            <a:ext cx="502920" cy="195681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45DAFFCA-9289-CC78-2E2A-AB8E34528619}"/>
              </a:ext>
            </a:extLst>
          </p:cNvPr>
          <p:cNvSpPr/>
          <p:nvPr/>
        </p:nvSpPr>
        <p:spPr>
          <a:xfrm>
            <a:off x="14310360" y="9646920"/>
            <a:ext cx="41148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432D1509-7681-E0D3-505A-DBD3E41B3403}"/>
              </a:ext>
            </a:extLst>
          </p:cNvPr>
          <p:cNvSpPr/>
          <p:nvPr/>
        </p:nvSpPr>
        <p:spPr>
          <a:xfrm flipV="1">
            <a:off x="14721840" y="3657600"/>
            <a:ext cx="0" cy="59893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F07AE8A-5923-EA55-50D4-5652076CCE46}"/>
              </a:ext>
            </a:extLst>
          </p:cNvPr>
          <p:cNvSpPr/>
          <p:nvPr/>
        </p:nvSpPr>
        <p:spPr>
          <a:xfrm flipH="1">
            <a:off x="14164056" y="3657600"/>
            <a:ext cx="557784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6514" cap="flat">
            <a:solidFill>
              <a:srgbClr val="555555"/>
            </a:solidFill>
            <a:prstDash val="solid"/>
            <a:miter/>
            <a:tailEnd type="arrow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2D070B-490C-CFFD-7C24-6C251C109125}"/>
              </a:ext>
            </a:extLst>
          </p:cNvPr>
          <p:cNvSpPr/>
          <p:nvPr/>
        </p:nvSpPr>
        <p:spPr>
          <a:xfrm>
            <a:off x="0" y="164592"/>
            <a:ext cx="15240304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ANALYTICS (Business/Mart) Layer - Star Schema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6A905D-1209-2777-21F9-9546E9AC31CD}"/>
              </a:ext>
            </a:extLst>
          </p:cNvPr>
          <p:cNvSpPr/>
          <p:nvPr/>
        </p:nvSpPr>
        <p:spPr>
          <a:xfrm>
            <a:off x="621792" y="1371600"/>
            <a:ext cx="4005072" cy="3520439"/>
          </a:xfrm>
          <a:custGeom>
            <a:avLst>
              <a:gd name="f10" fmla="val 2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224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97F655D-2C8E-7D4E-0AAB-2780AEBC49E5}"/>
              </a:ext>
            </a:extLst>
          </p:cNvPr>
          <p:cNvSpPr/>
          <p:nvPr/>
        </p:nvSpPr>
        <p:spPr>
          <a:xfrm>
            <a:off x="621792" y="1371600"/>
            <a:ext cx="4005072" cy="530352"/>
          </a:xfrm>
          <a:prstGeom prst="rect">
            <a:avLst/>
          </a:pr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802C9F-A0C7-0C1A-BA40-A11B6A480D48}"/>
              </a:ext>
            </a:extLst>
          </p:cNvPr>
          <p:cNvSpPr/>
          <p:nvPr/>
        </p:nvSpPr>
        <p:spPr>
          <a:xfrm>
            <a:off x="621792" y="1417320"/>
            <a:ext cx="4005072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DIM_CUSTOMER (SCD2)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E83D840-36A8-535D-AAF8-3C9BD7E2A62D}"/>
              </a:ext>
            </a:extLst>
          </p:cNvPr>
          <p:cNvSpPr/>
          <p:nvPr/>
        </p:nvSpPr>
        <p:spPr>
          <a:xfrm>
            <a:off x="786384" y="1993392"/>
            <a:ext cx="3675887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customer_key (PK)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D3B41EB-2109-20A5-D6EB-B72C10DFA292}"/>
              </a:ext>
            </a:extLst>
          </p:cNvPr>
          <p:cNvSpPr/>
          <p:nvPr/>
        </p:nvSpPr>
        <p:spPr>
          <a:xfrm>
            <a:off x="786384" y="2394420"/>
            <a:ext cx="3675887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customer_id (natural key)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81C308-7476-51C7-A5BB-74EDD0DF9667}"/>
              </a:ext>
            </a:extLst>
          </p:cNvPr>
          <p:cNvSpPr/>
          <p:nvPr/>
        </p:nvSpPr>
        <p:spPr>
          <a:xfrm>
            <a:off x="786384" y="2795448"/>
            <a:ext cx="3675887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first_name, last_name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1214528-1049-C405-7C3C-55054EB40585}"/>
              </a:ext>
            </a:extLst>
          </p:cNvPr>
          <p:cNvSpPr/>
          <p:nvPr/>
        </p:nvSpPr>
        <p:spPr>
          <a:xfrm>
            <a:off x="786384" y="3196477"/>
            <a:ext cx="3675887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email*, phone*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31A98DE-837B-7F6B-F676-813AB495A746}"/>
              </a:ext>
            </a:extLst>
          </p:cNvPr>
          <p:cNvSpPr/>
          <p:nvPr/>
        </p:nvSpPr>
        <p:spPr>
          <a:xfrm>
            <a:off x="786384" y="3597514"/>
            <a:ext cx="3675887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city, state, country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8E6A504-3E99-5ED8-0D8B-313ACBF44489}"/>
              </a:ext>
            </a:extLst>
          </p:cNvPr>
          <p:cNvSpPr/>
          <p:nvPr/>
        </p:nvSpPr>
        <p:spPr>
          <a:xfrm>
            <a:off x="786384" y="3998543"/>
            <a:ext cx="3675887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loyalty_tier, signup_date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B909C9D-7529-AC2F-B692-265CC4DBB19E}"/>
              </a:ext>
            </a:extLst>
          </p:cNvPr>
          <p:cNvSpPr/>
          <p:nvPr/>
        </p:nvSpPr>
        <p:spPr>
          <a:xfrm>
            <a:off x="786384" y="4399571"/>
            <a:ext cx="3675887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valid_from, valid_to, is_current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0066EA4-8390-3CBF-153F-B371DB1AE551}"/>
              </a:ext>
            </a:extLst>
          </p:cNvPr>
          <p:cNvSpPr/>
          <p:nvPr/>
        </p:nvSpPr>
        <p:spPr>
          <a:xfrm>
            <a:off x="2514600" y="2834640"/>
            <a:ext cx="3657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1:N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864AC78-D893-7F5B-8634-5F993543977D}"/>
              </a:ext>
            </a:extLst>
          </p:cNvPr>
          <p:cNvSpPr/>
          <p:nvPr/>
        </p:nvSpPr>
        <p:spPr>
          <a:xfrm>
            <a:off x="11045952" y="1874519"/>
            <a:ext cx="3767327" cy="2971800"/>
          </a:xfrm>
          <a:custGeom>
            <a:avLst>
              <a:gd name="f10" fmla="val 26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266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15495F2-A7B2-C057-79B0-F985B1C1D800}"/>
              </a:ext>
            </a:extLst>
          </p:cNvPr>
          <p:cNvSpPr/>
          <p:nvPr/>
        </p:nvSpPr>
        <p:spPr>
          <a:xfrm>
            <a:off x="11045952" y="1874519"/>
            <a:ext cx="3767327" cy="530352"/>
          </a:xfrm>
          <a:prstGeom prst="rect">
            <a:avLst/>
          </a:pr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10952E0-3E5E-1B5D-EC6D-28E662A68175}"/>
              </a:ext>
            </a:extLst>
          </p:cNvPr>
          <p:cNvSpPr/>
          <p:nvPr/>
        </p:nvSpPr>
        <p:spPr>
          <a:xfrm>
            <a:off x="11045952" y="1920240"/>
            <a:ext cx="37673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DIM_PRODUCT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9A7B9B-E02E-B42C-8C96-B5F48AD3F60E}"/>
              </a:ext>
            </a:extLst>
          </p:cNvPr>
          <p:cNvSpPr/>
          <p:nvPr/>
        </p:nvSpPr>
        <p:spPr>
          <a:xfrm>
            <a:off x="11210544" y="2496312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product_key (PK)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F2C37F8-D636-2DB1-9CA8-337FEFC89E2A}"/>
              </a:ext>
            </a:extLst>
          </p:cNvPr>
          <p:cNvSpPr/>
          <p:nvPr/>
        </p:nvSpPr>
        <p:spPr>
          <a:xfrm>
            <a:off x="11210544" y="2948025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product_id (natural key)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F2794AC-D883-F227-0469-56B6141BF5BB}"/>
              </a:ext>
            </a:extLst>
          </p:cNvPr>
          <p:cNvSpPr/>
          <p:nvPr/>
        </p:nvSpPr>
        <p:spPr>
          <a:xfrm>
            <a:off x="11210544" y="3399739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sku, product_name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84DECD9-4DDA-84C0-6FEE-5CFDD088353A}"/>
              </a:ext>
            </a:extLst>
          </p:cNvPr>
          <p:cNvSpPr/>
          <p:nvPr/>
        </p:nvSpPr>
        <p:spPr>
          <a:xfrm>
            <a:off x="11210544" y="3851452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category, subcategory, brand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3567AC2-CD7E-401B-B63F-CC5A211F0C5B}"/>
              </a:ext>
            </a:extLst>
          </p:cNvPr>
          <p:cNvSpPr/>
          <p:nvPr/>
        </p:nvSpPr>
        <p:spPr>
          <a:xfrm>
            <a:off x="11210544" y="4303166"/>
            <a:ext cx="34381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2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unit_cost, unit_price, is_active</a:t>
            </a:r>
            <a:endParaRPr lang="en-US" sz="10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09935B1-542B-595A-5793-5C259B1E7B50}"/>
              </a:ext>
            </a:extLst>
          </p:cNvPr>
          <p:cNvSpPr/>
          <p:nvPr/>
        </p:nvSpPr>
        <p:spPr>
          <a:xfrm>
            <a:off x="12874752" y="3429000"/>
            <a:ext cx="3657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1:N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D9D91F9-F01C-3FEF-C3F1-8F1132321C1C}"/>
              </a:ext>
            </a:extLst>
          </p:cNvPr>
          <p:cNvSpPr/>
          <p:nvPr/>
        </p:nvSpPr>
        <p:spPr>
          <a:xfrm>
            <a:off x="5733288" y="3474720"/>
            <a:ext cx="4224527" cy="3886200"/>
          </a:xfrm>
          <a:custGeom>
            <a:avLst>
              <a:gd name="f10" fmla="val 203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203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58E394A-C00D-16AF-4787-6512A5A51897}"/>
              </a:ext>
            </a:extLst>
          </p:cNvPr>
          <p:cNvSpPr/>
          <p:nvPr/>
        </p:nvSpPr>
        <p:spPr>
          <a:xfrm>
            <a:off x="5733288" y="3474720"/>
            <a:ext cx="4224527" cy="530352"/>
          </a:xfrm>
          <a:prstGeom prst="rect">
            <a:avLst/>
          </a:prstGeom>
          <a:solidFill>
            <a:srgbClr val="C00000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6D4B02B-659D-02C5-792C-4A69543FDB75}"/>
              </a:ext>
            </a:extLst>
          </p:cNvPr>
          <p:cNvSpPr/>
          <p:nvPr/>
        </p:nvSpPr>
        <p:spPr>
          <a:xfrm>
            <a:off x="5733288" y="3520439"/>
            <a:ext cx="42245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 lnSpcReduction="10000"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FCT_SALES</a:t>
            </a:r>
            <a:endParaRPr lang="en-US" sz="14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2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(grain: 1 row / order line)</a:t>
            </a:r>
            <a:endParaRPr lang="en-US" sz="142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6AD2214-F0F1-DE5C-64BF-74E434C86EBA}"/>
              </a:ext>
            </a:extLst>
          </p:cNvPr>
          <p:cNvSpPr/>
          <p:nvPr/>
        </p:nvSpPr>
        <p:spPr>
          <a:xfrm>
            <a:off x="5897880" y="4096512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sales_key (PK)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CA16E73-358F-0753-49A2-63655044FA34}"/>
              </a:ext>
            </a:extLst>
          </p:cNvPr>
          <p:cNvSpPr/>
          <p:nvPr/>
        </p:nvSpPr>
        <p:spPr>
          <a:xfrm>
            <a:off x="5897880" y="4413808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order_item_id, order_id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A00B46F-FBE0-1CD6-5957-7CF28E161ABB}"/>
              </a:ext>
            </a:extLst>
          </p:cNvPr>
          <p:cNvSpPr/>
          <p:nvPr/>
        </p:nvSpPr>
        <p:spPr>
          <a:xfrm>
            <a:off x="5897880" y="4731105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date_key (FK)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DD5B902-DCEA-E3AC-7EBD-46048241DC31}"/>
              </a:ext>
            </a:extLst>
          </p:cNvPr>
          <p:cNvSpPr/>
          <p:nvPr/>
        </p:nvSpPr>
        <p:spPr>
          <a:xfrm>
            <a:off x="5897880" y="5048402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customer_key (FK)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F187946-0418-72F9-90C7-D77D6DA1363A}"/>
              </a:ext>
            </a:extLst>
          </p:cNvPr>
          <p:cNvSpPr/>
          <p:nvPr/>
        </p:nvSpPr>
        <p:spPr>
          <a:xfrm>
            <a:off x="5897880" y="5365699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product_key (FK)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6E4FDF0-CFEB-771A-45C9-0C5ED841D163}"/>
              </a:ext>
            </a:extLst>
          </p:cNvPr>
          <p:cNvSpPr/>
          <p:nvPr/>
        </p:nvSpPr>
        <p:spPr>
          <a:xfrm>
            <a:off x="5897880" y="5682996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store_key (FK)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E8E34CA-0226-07FC-684B-21CCF93B989C}"/>
              </a:ext>
            </a:extLst>
          </p:cNvPr>
          <p:cNvSpPr/>
          <p:nvPr/>
        </p:nvSpPr>
        <p:spPr>
          <a:xfrm>
            <a:off x="5897880" y="6000292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order_status, payment_method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A0D3455-1910-29A3-B100-1D05F864C864}"/>
              </a:ext>
            </a:extLst>
          </p:cNvPr>
          <p:cNvSpPr/>
          <p:nvPr/>
        </p:nvSpPr>
        <p:spPr>
          <a:xfrm>
            <a:off x="5897880" y="6317589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quantity, unit_price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E71A662-A318-0FCD-C7B8-A9D853B64622}"/>
              </a:ext>
            </a:extLst>
          </p:cNvPr>
          <p:cNvSpPr/>
          <p:nvPr/>
        </p:nvSpPr>
        <p:spPr>
          <a:xfrm>
            <a:off x="5897880" y="6634886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discount_amount, line_total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01C5471-EAA7-F644-284C-3CAD2E932CCF}"/>
              </a:ext>
            </a:extLst>
          </p:cNvPr>
          <p:cNvSpPr/>
          <p:nvPr/>
        </p:nvSpPr>
        <p:spPr>
          <a:xfrm>
            <a:off x="5897880" y="6952183"/>
            <a:ext cx="3895344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unit_cost, gross_margin_amount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BC4A186-FB51-05BD-F8C1-251AFBF5A9EF}"/>
              </a:ext>
            </a:extLst>
          </p:cNvPr>
          <p:cNvSpPr/>
          <p:nvPr/>
        </p:nvSpPr>
        <p:spPr>
          <a:xfrm>
            <a:off x="621792" y="7891271"/>
            <a:ext cx="4005072" cy="2148839"/>
          </a:xfrm>
          <a:custGeom>
            <a:avLst>
              <a:gd name="f10" fmla="val 36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A0A3B42-2D63-CE78-84CE-58C6456791C9}"/>
              </a:ext>
            </a:extLst>
          </p:cNvPr>
          <p:cNvSpPr/>
          <p:nvPr/>
        </p:nvSpPr>
        <p:spPr>
          <a:xfrm>
            <a:off x="621792" y="7891271"/>
            <a:ext cx="4005072" cy="530352"/>
          </a:xfrm>
          <a:prstGeom prst="rect">
            <a:avLst/>
          </a:pr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813F020-E22D-9B34-4923-68A02999D58C}"/>
              </a:ext>
            </a:extLst>
          </p:cNvPr>
          <p:cNvSpPr/>
          <p:nvPr/>
        </p:nvSpPr>
        <p:spPr>
          <a:xfrm>
            <a:off x="621792" y="7936992"/>
            <a:ext cx="4005072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DIM_DATE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9E2CCDF-816B-163B-25AA-BF9B9B4D5C4E}"/>
              </a:ext>
            </a:extLst>
          </p:cNvPr>
          <p:cNvSpPr/>
          <p:nvPr/>
        </p:nvSpPr>
        <p:spPr>
          <a:xfrm>
            <a:off x="786384" y="8513064"/>
            <a:ext cx="3675887" cy="23927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date_key (PK, YYYYMMDD)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533B3E9-F898-EAF9-FD21-A924993CA79D}"/>
              </a:ext>
            </a:extLst>
          </p:cNvPr>
          <p:cNvSpPr/>
          <p:nvPr/>
        </p:nvSpPr>
        <p:spPr>
          <a:xfrm>
            <a:off x="786384" y="8752335"/>
            <a:ext cx="3675887" cy="23927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calendar_date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D548420-D626-5C03-D5E4-0A75D5DB489D}"/>
              </a:ext>
            </a:extLst>
          </p:cNvPr>
          <p:cNvSpPr/>
          <p:nvPr/>
        </p:nvSpPr>
        <p:spPr>
          <a:xfrm>
            <a:off x="786384" y="8991596"/>
            <a:ext cx="3675887" cy="23927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day_of_week, day_of_month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5F115E6-CEBF-4438-B39F-6FA310594E43}"/>
              </a:ext>
            </a:extLst>
          </p:cNvPr>
          <p:cNvSpPr/>
          <p:nvPr/>
        </p:nvSpPr>
        <p:spPr>
          <a:xfrm>
            <a:off x="786384" y="9230868"/>
            <a:ext cx="3675887" cy="23927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month_number, month_name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14CED91-A9D2-4025-5CE5-5B95C640734C}"/>
              </a:ext>
            </a:extLst>
          </p:cNvPr>
          <p:cNvSpPr/>
          <p:nvPr/>
        </p:nvSpPr>
        <p:spPr>
          <a:xfrm>
            <a:off x="786384" y="9470139"/>
            <a:ext cx="3675887" cy="23927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quarter, year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34C08B5-7BA0-420D-1489-666CA8380258}"/>
              </a:ext>
            </a:extLst>
          </p:cNvPr>
          <p:cNvSpPr/>
          <p:nvPr/>
        </p:nvSpPr>
        <p:spPr>
          <a:xfrm>
            <a:off x="786384" y="9709400"/>
            <a:ext cx="3675887" cy="23927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is_weekend, fiscal_period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21756DF-C757-D5CE-338A-AFD4387A276D}"/>
              </a:ext>
            </a:extLst>
          </p:cNvPr>
          <p:cNvSpPr/>
          <p:nvPr/>
        </p:nvSpPr>
        <p:spPr>
          <a:xfrm>
            <a:off x="2514600" y="9006840"/>
            <a:ext cx="3657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1:N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917327F-8671-6691-6FFD-E124EEF0B5B4}"/>
              </a:ext>
            </a:extLst>
          </p:cNvPr>
          <p:cNvSpPr/>
          <p:nvPr/>
        </p:nvSpPr>
        <p:spPr>
          <a:xfrm>
            <a:off x="5961888" y="7891271"/>
            <a:ext cx="3767327" cy="2240279"/>
          </a:xfrm>
          <a:custGeom>
            <a:avLst>
              <a:gd name="f10" fmla="val 353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53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3885EE30-41BA-7961-46D3-E3C949462D2B}"/>
              </a:ext>
            </a:extLst>
          </p:cNvPr>
          <p:cNvSpPr/>
          <p:nvPr/>
        </p:nvSpPr>
        <p:spPr>
          <a:xfrm>
            <a:off x="5961888" y="7891271"/>
            <a:ext cx="3767327" cy="530352"/>
          </a:xfrm>
          <a:prstGeom prst="rect">
            <a:avLst/>
          </a:prstGeom>
          <a:solidFill>
            <a:srgbClr val="C00000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4CE2259-AB15-57A7-E7BA-0B613844F3D7}"/>
              </a:ext>
            </a:extLst>
          </p:cNvPr>
          <p:cNvSpPr/>
          <p:nvPr/>
        </p:nvSpPr>
        <p:spPr>
          <a:xfrm>
            <a:off x="5961888" y="7936992"/>
            <a:ext cx="37673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FCT_INVENTORY_DAILY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(grain: 1 row / store-product-day)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75B90E3-E6C0-165D-75AC-4DEBEE508616}"/>
              </a:ext>
            </a:extLst>
          </p:cNvPr>
          <p:cNvSpPr/>
          <p:nvPr/>
        </p:nvSpPr>
        <p:spPr>
          <a:xfrm>
            <a:off x="6126480" y="8513064"/>
            <a:ext cx="3438144" cy="1908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9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inventory_key (PK)</a:t>
            </a:r>
            <a:endParaRPr lang="en-US" sz="99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40643DF-C42A-7C39-DB1C-83A471399460}"/>
              </a:ext>
            </a:extLst>
          </p:cNvPr>
          <p:cNvSpPr/>
          <p:nvPr/>
        </p:nvSpPr>
        <p:spPr>
          <a:xfrm>
            <a:off x="6126480" y="8703944"/>
            <a:ext cx="3438144" cy="1908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9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date_key (FK)</a:t>
            </a:r>
            <a:endParaRPr lang="en-US" sz="99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8D0A2552-C675-B53F-D1CD-34BF22191E3F}"/>
              </a:ext>
            </a:extLst>
          </p:cNvPr>
          <p:cNvSpPr/>
          <p:nvPr/>
        </p:nvSpPr>
        <p:spPr>
          <a:xfrm>
            <a:off x="6126480" y="8894826"/>
            <a:ext cx="3438144" cy="1908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9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store_key (FK)</a:t>
            </a:r>
            <a:endParaRPr lang="en-US" sz="99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18958CE-EDE8-93CE-0DE2-B94BA84D8409}"/>
              </a:ext>
            </a:extLst>
          </p:cNvPr>
          <p:cNvSpPr/>
          <p:nvPr/>
        </p:nvSpPr>
        <p:spPr>
          <a:xfrm>
            <a:off x="6126480" y="9085707"/>
            <a:ext cx="3438144" cy="1908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9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product_key (FK)</a:t>
            </a:r>
            <a:endParaRPr lang="en-US" sz="99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454D9103-0C5B-412F-F40E-B71038F65DF6}"/>
              </a:ext>
            </a:extLst>
          </p:cNvPr>
          <p:cNvSpPr/>
          <p:nvPr/>
        </p:nvSpPr>
        <p:spPr>
          <a:xfrm>
            <a:off x="6126480" y="9276588"/>
            <a:ext cx="3438144" cy="1908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9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quantity_on_hand, quantity_reserved</a:t>
            </a:r>
            <a:endParaRPr lang="en-US" sz="99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EB14441C-F14D-E2DA-4AAE-DC92F9EAA9D7}"/>
              </a:ext>
            </a:extLst>
          </p:cNvPr>
          <p:cNvSpPr/>
          <p:nvPr/>
        </p:nvSpPr>
        <p:spPr>
          <a:xfrm>
            <a:off x="6126480" y="9467469"/>
            <a:ext cx="3438144" cy="1908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9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quantity_available</a:t>
            </a:r>
            <a:endParaRPr lang="en-US" sz="99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794B699-DE99-03C3-DB82-F1E9A35E4EEA}"/>
              </a:ext>
            </a:extLst>
          </p:cNvPr>
          <p:cNvSpPr/>
          <p:nvPr/>
        </p:nvSpPr>
        <p:spPr>
          <a:xfrm>
            <a:off x="6126480" y="9658350"/>
            <a:ext cx="3438144" cy="1908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9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reorder_point</a:t>
            </a:r>
            <a:endParaRPr lang="en-US" sz="99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9B0FFBC2-62C1-5616-0ED1-D91190A03A3A}"/>
              </a:ext>
            </a:extLst>
          </p:cNvPr>
          <p:cNvSpPr/>
          <p:nvPr/>
        </p:nvSpPr>
        <p:spPr>
          <a:xfrm>
            <a:off x="6126480" y="9849230"/>
            <a:ext cx="3438144" cy="1908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9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is_below_reorder_point</a:t>
            </a:r>
            <a:endParaRPr lang="en-US" sz="99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D6159DF2-E7BE-2D91-2C6A-598465B62CEB}"/>
              </a:ext>
            </a:extLst>
          </p:cNvPr>
          <p:cNvSpPr/>
          <p:nvPr/>
        </p:nvSpPr>
        <p:spPr>
          <a:xfrm>
            <a:off x="11045952" y="7891271"/>
            <a:ext cx="3767327" cy="2148839"/>
          </a:xfrm>
          <a:custGeom>
            <a:avLst>
              <a:gd name="f10" fmla="val 36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3E435AA2-F69E-6739-3CBF-A5FDF24F4FDE}"/>
              </a:ext>
            </a:extLst>
          </p:cNvPr>
          <p:cNvSpPr/>
          <p:nvPr/>
        </p:nvSpPr>
        <p:spPr>
          <a:xfrm>
            <a:off x="11045952" y="7891271"/>
            <a:ext cx="3767327" cy="530352"/>
          </a:xfrm>
          <a:prstGeom prst="rect">
            <a:avLst/>
          </a:prstGeom>
          <a:solidFill>
            <a:srgbClr val="4472C4"/>
          </a:solidFill>
          <a:ln w="15243" cap="flat">
            <a:solidFill>
              <a:srgbClr val="333333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67A3E040-D0D1-E6E6-261D-9DFAB6715740}"/>
              </a:ext>
            </a:extLst>
          </p:cNvPr>
          <p:cNvSpPr/>
          <p:nvPr/>
        </p:nvSpPr>
        <p:spPr>
          <a:xfrm>
            <a:off x="11045952" y="7936992"/>
            <a:ext cx="3767327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>
                <a:solidFill>
                  <a:srgbClr val="FFFFFF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DIM_STORE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8ABA3C32-8B29-EB2C-4ACA-C76F09DDD2DA}"/>
              </a:ext>
            </a:extLst>
          </p:cNvPr>
          <p:cNvSpPr/>
          <p:nvPr/>
        </p:nvSpPr>
        <p:spPr>
          <a:xfrm>
            <a:off x="11210544" y="8513064"/>
            <a:ext cx="3438144" cy="28712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store_key (PK)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917AD570-868B-DDC0-F68E-A0D5A0253208}"/>
              </a:ext>
            </a:extLst>
          </p:cNvPr>
          <p:cNvSpPr/>
          <p:nvPr/>
        </p:nvSpPr>
        <p:spPr>
          <a:xfrm>
            <a:off x="11210544" y="8800185"/>
            <a:ext cx="3438144" cy="28712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store_id (natural key)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F311E768-1C60-D251-E757-0CE9927772D1}"/>
              </a:ext>
            </a:extLst>
          </p:cNvPr>
          <p:cNvSpPr/>
          <p:nvPr/>
        </p:nvSpPr>
        <p:spPr>
          <a:xfrm>
            <a:off x="11210544" y="9087307"/>
            <a:ext cx="3438144" cy="28712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store_name, store_type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20A85B23-0175-97E9-4AF1-32946C5974E1}"/>
              </a:ext>
            </a:extLst>
          </p:cNvPr>
          <p:cNvSpPr/>
          <p:nvPr/>
        </p:nvSpPr>
        <p:spPr>
          <a:xfrm>
            <a:off x="11210544" y="9374428"/>
            <a:ext cx="3438144" cy="28712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region, city, state, country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6E5852E-B71B-E739-4405-177F52D46C31}"/>
              </a:ext>
            </a:extLst>
          </p:cNvPr>
          <p:cNvSpPr/>
          <p:nvPr/>
        </p:nvSpPr>
        <p:spPr>
          <a:xfrm>
            <a:off x="11210544" y="9661550"/>
            <a:ext cx="3438144" cy="28712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10" b="0" i="0" u="none" strike="noStrike" kern="1200" cap="none" spc="0" baseline="0">
                <a:solidFill>
                  <a:srgbClr val="333333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open_date</a:t>
            </a:r>
            <a:endParaRPr lang="en-US" sz="101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3040CCC0-0E58-A2D0-1220-55CB757D4ED5}"/>
              </a:ext>
            </a:extLst>
          </p:cNvPr>
          <p:cNvSpPr/>
          <p:nvPr/>
        </p:nvSpPr>
        <p:spPr>
          <a:xfrm>
            <a:off x="12874752" y="8961120"/>
            <a:ext cx="3657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512" tIns="512" rIns="512" bIns="512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40" b="0" i="1" u="none" strike="noStrike" kern="1200" cap="none" spc="0" baseline="0">
                <a:solidFill>
                  <a:srgbClr val="555555"/>
                </a:solidFill>
                <a:uFillTx/>
                <a:latin typeface="Aptos" pitchFamily="34"/>
                <a:ea typeface="Aptos" pitchFamily="34"/>
                <a:cs typeface="Aptos" pitchFamily="34"/>
              </a:rPr>
              <a:t>1:N</a:t>
            </a:r>
            <a:endParaRPr lang="en-US" sz="94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ae551e3-0043-40f0-9a67-12d995049d50}" enabled="1" method="Standard" siteId="{97984c2b-a229-4609-8185-ae84947bc3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843</Words>
  <Application>Microsoft Office PowerPoint</Application>
  <PresentationFormat>Custom</PresentationFormat>
  <Paragraphs>187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Retail Data Platform Diagrams Fixed</dc:title>
  <dc:subject>PptxGenJS Presentation</dc:subject>
  <dc:creator>Sankara Rao Chappa</dc:creator>
  <cp:lastModifiedBy>Sankara Rao Chappa</cp:lastModifiedBy>
  <cp:revision>9</cp:revision>
  <dcterms:created xsi:type="dcterms:W3CDTF">2026-08-17T07:17:31Z</dcterms:created>
  <dcterms:modified xsi:type="dcterms:W3CDTF">2026-08-19T08:54:04Z</dcterms:modified>
</cp:coreProperties>
</file>